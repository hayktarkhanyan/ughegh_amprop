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19900" cy="9918700"/>
  <p:embeddedFontLst>
    <p:embeddedFont>
      <p:font typeface="Roboto"/>
      <p:regular r:id="rId31"/>
      <p:bold r:id="rId32"/>
      <p:italic r:id="rId33"/>
      <p:boldItalic r:id="rId34"/>
    </p:embeddedFont>
    <p:embeddedFont>
      <p:font typeface="Lobster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orient="horz" pos="872">
          <p15:clr>
            <a:srgbClr val="A4A3A4"/>
          </p15:clr>
        </p15:guide>
        <p15:guide id="3" pos="181">
          <p15:clr>
            <a:srgbClr val="A4A3A4"/>
          </p15:clr>
        </p15:guide>
        <p15:guide id="4" pos="5579">
          <p15:clr>
            <a:srgbClr val="A4A3A4"/>
          </p15:clr>
        </p15:guide>
        <p15:guide id="5" pos="793">
          <p15:clr>
            <a:srgbClr val="A4A3A4"/>
          </p15:clr>
        </p15:guide>
        <p15:guide id="6" orient="horz" pos="1030">
          <p15:clr>
            <a:srgbClr val="A4A3A4"/>
          </p15:clr>
        </p15:guide>
      </p15:sldGuideLst>
    </p:ext>
    <p:ext uri="{2D200454-40CA-4A62-9FC3-DE9A4176ACB9}">
      <p15:notesGuideLst>
        <p15:guide id="1" orient="horz" pos="3130">
          <p15:clr>
            <a:srgbClr val="A4A3A4"/>
          </p15:clr>
        </p15:guide>
        <p15:guide id="2" pos="214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872" orient="horz"/>
        <p:guide pos="181"/>
        <p:guide pos="5579"/>
        <p:guide pos="793"/>
        <p:guide pos="103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30" orient="horz"/>
        <p:guide pos="2149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italic.fntdata"/><Relationship Id="rId10" Type="http://schemas.openxmlformats.org/officeDocument/2006/relationships/slide" Target="slides/slide5.xml"/><Relationship Id="rId32" Type="http://schemas.openxmlformats.org/officeDocument/2006/relationships/font" Target="fonts/Roboto-bold.fntdata"/><Relationship Id="rId13" Type="http://schemas.openxmlformats.org/officeDocument/2006/relationships/slide" Target="slides/slide8.xml"/><Relationship Id="rId35" Type="http://schemas.openxmlformats.org/officeDocument/2006/relationships/font" Target="fonts/Lobster-regular.fntdata"/><Relationship Id="rId12" Type="http://schemas.openxmlformats.org/officeDocument/2006/relationships/slide" Target="slides/slide7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54338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00" spcFirstLastPara="1" rIns="91300" wrap="square" tIns="456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63975" y="0"/>
            <a:ext cx="2954338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00" spcFirstLastPara="1" rIns="91300" wrap="square" tIns="456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838" y="590550"/>
            <a:ext cx="6626225" cy="3727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28688" y="4710113"/>
            <a:ext cx="5240337" cy="446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0225"/>
            <a:ext cx="2954338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650" lIns="91300" spcFirstLastPara="1" rIns="91300" wrap="square" tIns="456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63975" y="9420225"/>
            <a:ext cx="2954338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 txBox="1"/>
          <p:nvPr>
            <p:ph idx="1" type="body"/>
          </p:nvPr>
        </p:nvSpPr>
        <p:spPr>
          <a:xfrm>
            <a:off x="928688" y="4710113"/>
            <a:ext cx="5240337" cy="446405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:notes"/>
          <p:cNvSpPr/>
          <p:nvPr>
            <p:ph idx="2" type="sldImg"/>
          </p:nvPr>
        </p:nvSpPr>
        <p:spPr>
          <a:xfrm>
            <a:off x="96838" y="590550"/>
            <a:ext cx="6626225" cy="3727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928688" y="4710113"/>
            <a:ext cx="5240400" cy="44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96838" y="590550"/>
            <a:ext cx="6626100" cy="37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916bbcdbbf_0_77:notes"/>
          <p:cNvSpPr txBox="1"/>
          <p:nvPr>
            <p:ph idx="1" type="body"/>
          </p:nvPr>
        </p:nvSpPr>
        <p:spPr>
          <a:xfrm>
            <a:off x="681990" y="4711383"/>
            <a:ext cx="5455800" cy="44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" name="Google Shape;59;g2916bbcdbbf_0_77:notes"/>
          <p:cNvSpPr/>
          <p:nvPr>
            <p:ph idx="2" type="sldImg"/>
          </p:nvPr>
        </p:nvSpPr>
        <p:spPr>
          <a:xfrm>
            <a:off x="378883" y="743903"/>
            <a:ext cx="60621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8bd0cd38c5_0_41:notes"/>
          <p:cNvSpPr/>
          <p:nvPr>
            <p:ph idx="2" type="sldImg"/>
          </p:nvPr>
        </p:nvSpPr>
        <p:spPr>
          <a:xfrm>
            <a:off x="96838" y="590550"/>
            <a:ext cx="6626100" cy="37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8bd0cd38c5_0_41:notes"/>
          <p:cNvSpPr txBox="1"/>
          <p:nvPr>
            <p:ph idx="1" type="body"/>
          </p:nvPr>
        </p:nvSpPr>
        <p:spPr>
          <a:xfrm>
            <a:off x="928688" y="4710113"/>
            <a:ext cx="5240400" cy="44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28bd0cd38c5_0_41:notes"/>
          <p:cNvSpPr txBox="1"/>
          <p:nvPr>
            <p:ph idx="12" type="sldNum"/>
          </p:nvPr>
        </p:nvSpPr>
        <p:spPr>
          <a:xfrm>
            <a:off x="3863975" y="9420225"/>
            <a:ext cx="2954400" cy="496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8bd0cd38c5_0_50:notes"/>
          <p:cNvSpPr/>
          <p:nvPr>
            <p:ph idx="2" type="sldImg"/>
          </p:nvPr>
        </p:nvSpPr>
        <p:spPr>
          <a:xfrm>
            <a:off x="96838" y="590550"/>
            <a:ext cx="6626100" cy="37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8bd0cd38c5_0_50:notes"/>
          <p:cNvSpPr txBox="1"/>
          <p:nvPr>
            <p:ph idx="1" type="body"/>
          </p:nvPr>
        </p:nvSpPr>
        <p:spPr>
          <a:xfrm>
            <a:off x="928688" y="4710113"/>
            <a:ext cx="5240400" cy="44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28bd0cd38c5_0_50:notes"/>
          <p:cNvSpPr txBox="1"/>
          <p:nvPr>
            <p:ph idx="12" type="sldNum"/>
          </p:nvPr>
        </p:nvSpPr>
        <p:spPr>
          <a:xfrm>
            <a:off x="3863975" y="9420225"/>
            <a:ext cx="2954400" cy="496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8bd0cd38c5_0_62:notes"/>
          <p:cNvSpPr/>
          <p:nvPr>
            <p:ph idx="2" type="sldImg"/>
          </p:nvPr>
        </p:nvSpPr>
        <p:spPr>
          <a:xfrm>
            <a:off x="96838" y="590550"/>
            <a:ext cx="6626100" cy="37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8bd0cd38c5_0_62:notes"/>
          <p:cNvSpPr txBox="1"/>
          <p:nvPr>
            <p:ph idx="1" type="body"/>
          </p:nvPr>
        </p:nvSpPr>
        <p:spPr>
          <a:xfrm>
            <a:off x="928688" y="4710113"/>
            <a:ext cx="5240400" cy="44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28bd0cd38c5_0_62:notes"/>
          <p:cNvSpPr txBox="1"/>
          <p:nvPr>
            <p:ph idx="12" type="sldNum"/>
          </p:nvPr>
        </p:nvSpPr>
        <p:spPr>
          <a:xfrm>
            <a:off x="3863975" y="9420225"/>
            <a:ext cx="2954400" cy="496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8bd0cd38c5_0_56:notes"/>
          <p:cNvSpPr/>
          <p:nvPr>
            <p:ph idx="2" type="sldImg"/>
          </p:nvPr>
        </p:nvSpPr>
        <p:spPr>
          <a:xfrm>
            <a:off x="96838" y="590550"/>
            <a:ext cx="6626100" cy="37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8bd0cd38c5_0_56:notes"/>
          <p:cNvSpPr txBox="1"/>
          <p:nvPr>
            <p:ph idx="1" type="body"/>
          </p:nvPr>
        </p:nvSpPr>
        <p:spPr>
          <a:xfrm>
            <a:off x="928688" y="4710113"/>
            <a:ext cx="5240400" cy="44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28bd0cd38c5_0_56:notes"/>
          <p:cNvSpPr txBox="1"/>
          <p:nvPr>
            <p:ph idx="12" type="sldNum"/>
          </p:nvPr>
        </p:nvSpPr>
        <p:spPr>
          <a:xfrm>
            <a:off x="3863975" y="9420225"/>
            <a:ext cx="2954400" cy="496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8bd0cd38c5_0_70:notes"/>
          <p:cNvSpPr/>
          <p:nvPr>
            <p:ph idx="2" type="sldImg"/>
          </p:nvPr>
        </p:nvSpPr>
        <p:spPr>
          <a:xfrm>
            <a:off x="96838" y="590550"/>
            <a:ext cx="6626100" cy="37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8bd0cd38c5_0_70:notes"/>
          <p:cNvSpPr txBox="1"/>
          <p:nvPr>
            <p:ph idx="1" type="body"/>
          </p:nvPr>
        </p:nvSpPr>
        <p:spPr>
          <a:xfrm>
            <a:off x="928688" y="4710113"/>
            <a:ext cx="5240400" cy="44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28bd0cd38c5_0_70:notes"/>
          <p:cNvSpPr txBox="1"/>
          <p:nvPr>
            <p:ph idx="12" type="sldNum"/>
          </p:nvPr>
        </p:nvSpPr>
        <p:spPr>
          <a:xfrm>
            <a:off x="3863975" y="9420225"/>
            <a:ext cx="2954400" cy="496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8bd0cd38c5_0_87:notes"/>
          <p:cNvSpPr/>
          <p:nvPr>
            <p:ph idx="2" type="sldImg"/>
          </p:nvPr>
        </p:nvSpPr>
        <p:spPr>
          <a:xfrm>
            <a:off x="96838" y="590550"/>
            <a:ext cx="6626100" cy="37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8bd0cd38c5_0_87:notes"/>
          <p:cNvSpPr txBox="1"/>
          <p:nvPr>
            <p:ph idx="1" type="body"/>
          </p:nvPr>
        </p:nvSpPr>
        <p:spPr>
          <a:xfrm>
            <a:off x="928688" y="4710113"/>
            <a:ext cx="5240400" cy="44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28bd0cd38c5_0_87:notes"/>
          <p:cNvSpPr txBox="1"/>
          <p:nvPr>
            <p:ph idx="12" type="sldNum"/>
          </p:nvPr>
        </p:nvSpPr>
        <p:spPr>
          <a:xfrm>
            <a:off x="3863975" y="9420225"/>
            <a:ext cx="2954400" cy="496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3cbaf1b10_0_36:notes"/>
          <p:cNvSpPr/>
          <p:nvPr>
            <p:ph idx="2" type="sldImg"/>
          </p:nvPr>
        </p:nvSpPr>
        <p:spPr>
          <a:xfrm>
            <a:off x="96838" y="590550"/>
            <a:ext cx="6626100" cy="37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3cbaf1b10_0_36:notes"/>
          <p:cNvSpPr txBox="1"/>
          <p:nvPr>
            <p:ph idx="1" type="body"/>
          </p:nvPr>
        </p:nvSpPr>
        <p:spPr>
          <a:xfrm>
            <a:off x="928688" y="4710113"/>
            <a:ext cx="5240400" cy="44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83cbaf1b10_0_36:notes"/>
          <p:cNvSpPr txBox="1"/>
          <p:nvPr>
            <p:ph idx="12" type="sldNum"/>
          </p:nvPr>
        </p:nvSpPr>
        <p:spPr>
          <a:xfrm>
            <a:off x="3863975" y="9420225"/>
            <a:ext cx="2954400" cy="496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3cbaf1b10_0_72:notes"/>
          <p:cNvSpPr/>
          <p:nvPr>
            <p:ph idx="2" type="sldImg"/>
          </p:nvPr>
        </p:nvSpPr>
        <p:spPr>
          <a:xfrm>
            <a:off x="96838" y="590550"/>
            <a:ext cx="6626100" cy="37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3cbaf1b10_0_72:notes"/>
          <p:cNvSpPr txBox="1"/>
          <p:nvPr>
            <p:ph idx="1" type="body"/>
          </p:nvPr>
        </p:nvSpPr>
        <p:spPr>
          <a:xfrm>
            <a:off x="928688" y="4710113"/>
            <a:ext cx="5240400" cy="44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83cbaf1b10_0_72:notes"/>
          <p:cNvSpPr txBox="1"/>
          <p:nvPr>
            <p:ph idx="12" type="sldNum"/>
          </p:nvPr>
        </p:nvSpPr>
        <p:spPr>
          <a:xfrm>
            <a:off x="3863975" y="9420225"/>
            <a:ext cx="2954400" cy="496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3cbaf1b10_0_60:notes"/>
          <p:cNvSpPr/>
          <p:nvPr>
            <p:ph idx="2" type="sldImg"/>
          </p:nvPr>
        </p:nvSpPr>
        <p:spPr>
          <a:xfrm>
            <a:off x="96838" y="590550"/>
            <a:ext cx="6626100" cy="37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3cbaf1b10_0_60:notes"/>
          <p:cNvSpPr txBox="1"/>
          <p:nvPr>
            <p:ph idx="1" type="body"/>
          </p:nvPr>
        </p:nvSpPr>
        <p:spPr>
          <a:xfrm>
            <a:off x="928688" y="4710113"/>
            <a:ext cx="5240400" cy="44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83cbaf1b10_0_60:notes"/>
          <p:cNvSpPr txBox="1"/>
          <p:nvPr>
            <p:ph idx="12" type="sldNum"/>
          </p:nvPr>
        </p:nvSpPr>
        <p:spPr>
          <a:xfrm>
            <a:off x="3863975" y="9420225"/>
            <a:ext cx="2954400" cy="496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3cbaf1b10_0_50:notes"/>
          <p:cNvSpPr/>
          <p:nvPr>
            <p:ph idx="2" type="sldImg"/>
          </p:nvPr>
        </p:nvSpPr>
        <p:spPr>
          <a:xfrm>
            <a:off x="96838" y="590550"/>
            <a:ext cx="6626100" cy="37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83cbaf1b10_0_50:notes"/>
          <p:cNvSpPr txBox="1"/>
          <p:nvPr>
            <p:ph idx="1" type="body"/>
          </p:nvPr>
        </p:nvSpPr>
        <p:spPr>
          <a:xfrm>
            <a:off x="928688" y="4710113"/>
            <a:ext cx="5240400" cy="44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83cbaf1b10_0_50:notes"/>
          <p:cNvSpPr txBox="1"/>
          <p:nvPr>
            <p:ph idx="12" type="sldNum"/>
          </p:nvPr>
        </p:nvSpPr>
        <p:spPr>
          <a:xfrm>
            <a:off x="3863975" y="9420225"/>
            <a:ext cx="2954400" cy="496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8bd0cd38c5_0_105:notes"/>
          <p:cNvSpPr/>
          <p:nvPr>
            <p:ph idx="2" type="sldImg"/>
          </p:nvPr>
        </p:nvSpPr>
        <p:spPr>
          <a:xfrm>
            <a:off x="96838" y="590550"/>
            <a:ext cx="6626100" cy="37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8bd0cd38c5_0_105:notes"/>
          <p:cNvSpPr txBox="1"/>
          <p:nvPr>
            <p:ph idx="1" type="body"/>
          </p:nvPr>
        </p:nvSpPr>
        <p:spPr>
          <a:xfrm>
            <a:off x="928688" y="4710113"/>
            <a:ext cx="5240400" cy="44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28bd0cd38c5_0_105:notes"/>
          <p:cNvSpPr txBox="1"/>
          <p:nvPr>
            <p:ph idx="12" type="sldNum"/>
          </p:nvPr>
        </p:nvSpPr>
        <p:spPr>
          <a:xfrm>
            <a:off x="3863975" y="9420225"/>
            <a:ext cx="2954400" cy="496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8bd0cd38c5_0_120:notes"/>
          <p:cNvSpPr/>
          <p:nvPr>
            <p:ph idx="2" type="sldImg"/>
          </p:nvPr>
        </p:nvSpPr>
        <p:spPr>
          <a:xfrm>
            <a:off x="96838" y="590550"/>
            <a:ext cx="6626100" cy="37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8bd0cd38c5_0_120:notes"/>
          <p:cNvSpPr txBox="1"/>
          <p:nvPr>
            <p:ph idx="1" type="body"/>
          </p:nvPr>
        </p:nvSpPr>
        <p:spPr>
          <a:xfrm>
            <a:off x="928688" y="4710113"/>
            <a:ext cx="5240400" cy="44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Why can seasoned speakers put together a few slides and give a good presentation? Because they present the same work over and over again and have already practiced this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Practice the first and last minute at least 10 times</a:t>
            </a:r>
            <a:endParaRPr/>
          </a:p>
        </p:txBody>
      </p:sp>
      <p:sp>
        <p:nvSpPr>
          <p:cNvPr id="199" name="Google Shape;199;g28bd0cd38c5_0_120:notes"/>
          <p:cNvSpPr txBox="1"/>
          <p:nvPr>
            <p:ph idx="12" type="sldNum"/>
          </p:nvPr>
        </p:nvSpPr>
        <p:spPr>
          <a:xfrm>
            <a:off x="3863975" y="9420225"/>
            <a:ext cx="2954400" cy="496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8bd0cd38c5_0_137:notes"/>
          <p:cNvSpPr/>
          <p:nvPr>
            <p:ph idx="2" type="sldImg"/>
          </p:nvPr>
        </p:nvSpPr>
        <p:spPr>
          <a:xfrm>
            <a:off x="96838" y="590550"/>
            <a:ext cx="6626100" cy="37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8bd0cd38c5_0_137:notes"/>
          <p:cNvSpPr txBox="1"/>
          <p:nvPr>
            <p:ph idx="1" type="body"/>
          </p:nvPr>
        </p:nvSpPr>
        <p:spPr>
          <a:xfrm>
            <a:off x="928688" y="4710113"/>
            <a:ext cx="5240400" cy="44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28bd0cd38c5_0_137:notes"/>
          <p:cNvSpPr txBox="1"/>
          <p:nvPr>
            <p:ph idx="12" type="sldNum"/>
          </p:nvPr>
        </p:nvSpPr>
        <p:spPr>
          <a:xfrm>
            <a:off x="3863975" y="9420225"/>
            <a:ext cx="2954400" cy="496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8bd0cd38c5_0_150:notes"/>
          <p:cNvSpPr/>
          <p:nvPr>
            <p:ph idx="2" type="sldImg"/>
          </p:nvPr>
        </p:nvSpPr>
        <p:spPr>
          <a:xfrm>
            <a:off x="96838" y="590550"/>
            <a:ext cx="6626100" cy="37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8bd0cd38c5_0_150:notes"/>
          <p:cNvSpPr txBox="1"/>
          <p:nvPr>
            <p:ph idx="1" type="body"/>
          </p:nvPr>
        </p:nvSpPr>
        <p:spPr>
          <a:xfrm>
            <a:off x="928688" y="4710113"/>
            <a:ext cx="5240400" cy="44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28bd0cd38c5_0_150:notes"/>
          <p:cNvSpPr txBox="1"/>
          <p:nvPr>
            <p:ph idx="12" type="sldNum"/>
          </p:nvPr>
        </p:nvSpPr>
        <p:spPr>
          <a:xfrm>
            <a:off x="3863975" y="9420225"/>
            <a:ext cx="2954400" cy="496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8bd0cd38c5_0_158:notes"/>
          <p:cNvSpPr/>
          <p:nvPr>
            <p:ph idx="2" type="sldImg"/>
          </p:nvPr>
        </p:nvSpPr>
        <p:spPr>
          <a:xfrm>
            <a:off x="96838" y="590550"/>
            <a:ext cx="6626100" cy="37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8bd0cd38c5_0_158:notes"/>
          <p:cNvSpPr txBox="1"/>
          <p:nvPr>
            <p:ph idx="1" type="body"/>
          </p:nvPr>
        </p:nvSpPr>
        <p:spPr>
          <a:xfrm>
            <a:off x="928688" y="4710113"/>
            <a:ext cx="5240400" cy="44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28bd0cd38c5_0_158:notes"/>
          <p:cNvSpPr txBox="1"/>
          <p:nvPr>
            <p:ph idx="12" type="sldNum"/>
          </p:nvPr>
        </p:nvSpPr>
        <p:spPr>
          <a:xfrm>
            <a:off x="3863975" y="9420225"/>
            <a:ext cx="2954400" cy="496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916bbcdbbf_0_173:notes"/>
          <p:cNvSpPr txBox="1"/>
          <p:nvPr>
            <p:ph idx="1" type="body"/>
          </p:nvPr>
        </p:nvSpPr>
        <p:spPr>
          <a:xfrm>
            <a:off x="681990" y="4711383"/>
            <a:ext cx="5455800" cy="44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g2916bbcdbbf_0_173:notes"/>
          <p:cNvSpPr/>
          <p:nvPr>
            <p:ph idx="2" type="sldImg"/>
          </p:nvPr>
        </p:nvSpPr>
        <p:spPr>
          <a:xfrm>
            <a:off x="378883" y="743903"/>
            <a:ext cx="60621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916bbcdbbf_0_262:notes"/>
          <p:cNvSpPr txBox="1"/>
          <p:nvPr>
            <p:ph idx="1" type="body"/>
          </p:nvPr>
        </p:nvSpPr>
        <p:spPr>
          <a:xfrm>
            <a:off x="681990" y="4711383"/>
            <a:ext cx="5455800" cy="44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g2916bbcdbbf_0_262:notes"/>
          <p:cNvSpPr/>
          <p:nvPr>
            <p:ph idx="2" type="sldImg"/>
          </p:nvPr>
        </p:nvSpPr>
        <p:spPr>
          <a:xfrm>
            <a:off x="378883" y="743903"/>
            <a:ext cx="60621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8bd0cd38c5_0_176:notes"/>
          <p:cNvSpPr/>
          <p:nvPr>
            <p:ph idx="2" type="sldImg"/>
          </p:nvPr>
        </p:nvSpPr>
        <p:spPr>
          <a:xfrm>
            <a:off x="96838" y="590550"/>
            <a:ext cx="6626100" cy="37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8bd0cd38c5_0_176:notes"/>
          <p:cNvSpPr txBox="1"/>
          <p:nvPr>
            <p:ph idx="1" type="body"/>
          </p:nvPr>
        </p:nvSpPr>
        <p:spPr>
          <a:xfrm>
            <a:off x="928688" y="4710113"/>
            <a:ext cx="5240400" cy="44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8bd0cd38c5_0_176:notes"/>
          <p:cNvSpPr txBox="1"/>
          <p:nvPr>
            <p:ph idx="12" type="sldNum"/>
          </p:nvPr>
        </p:nvSpPr>
        <p:spPr>
          <a:xfrm>
            <a:off x="3863975" y="9420225"/>
            <a:ext cx="2954400" cy="496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9120fe6946_0_0:notes"/>
          <p:cNvSpPr/>
          <p:nvPr>
            <p:ph idx="2" type="sldImg"/>
          </p:nvPr>
        </p:nvSpPr>
        <p:spPr>
          <a:xfrm>
            <a:off x="96838" y="590550"/>
            <a:ext cx="6626100" cy="37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9120fe6946_0_0:notes"/>
          <p:cNvSpPr txBox="1"/>
          <p:nvPr>
            <p:ph idx="1" type="body"/>
          </p:nvPr>
        </p:nvSpPr>
        <p:spPr>
          <a:xfrm>
            <a:off x="928688" y="4710113"/>
            <a:ext cx="5240400" cy="44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29120fe6946_0_0:notes"/>
          <p:cNvSpPr txBox="1"/>
          <p:nvPr>
            <p:ph idx="12" type="sldNum"/>
          </p:nvPr>
        </p:nvSpPr>
        <p:spPr>
          <a:xfrm>
            <a:off x="3863975" y="9420225"/>
            <a:ext cx="2954400" cy="496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916bbcdbbf_0_351:notes"/>
          <p:cNvSpPr/>
          <p:nvPr>
            <p:ph idx="2" type="sldImg"/>
          </p:nvPr>
        </p:nvSpPr>
        <p:spPr>
          <a:xfrm>
            <a:off x="96838" y="590550"/>
            <a:ext cx="6626100" cy="37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916bbcdbbf_0_351:notes"/>
          <p:cNvSpPr txBox="1"/>
          <p:nvPr>
            <p:ph idx="1" type="body"/>
          </p:nvPr>
        </p:nvSpPr>
        <p:spPr>
          <a:xfrm>
            <a:off x="928688" y="4710113"/>
            <a:ext cx="5240400" cy="44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2916bbcdbbf_0_351:notes"/>
          <p:cNvSpPr txBox="1"/>
          <p:nvPr>
            <p:ph idx="12" type="sldNum"/>
          </p:nvPr>
        </p:nvSpPr>
        <p:spPr>
          <a:xfrm>
            <a:off x="3863975" y="9420225"/>
            <a:ext cx="2954400" cy="496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8bd0cd38c5_0_24:notes"/>
          <p:cNvSpPr/>
          <p:nvPr>
            <p:ph idx="2" type="sldImg"/>
          </p:nvPr>
        </p:nvSpPr>
        <p:spPr>
          <a:xfrm>
            <a:off x="96838" y="590550"/>
            <a:ext cx="6626100" cy="37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8bd0cd38c5_0_24:notes"/>
          <p:cNvSpPr txBox="1"/>
          <p:nvPr>
            <p:ph idx="1" type="body"/>
          </p:nvPr>
        </p:nvSpPr>
        <p:spPr>
          <a:xfrm>
            <a:off x="928688" y="4710113"/>
            <a:ext cx="5240400" cy="44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28bd0cd38c5_0_24:notes"/>
          <p:cNvSpPr txBox="1"/>
          <p:nvPr>
            <p:ph idx="12" type="sldNum"/>
          </p:nvPr>
        </p:nvSpPr>
        <p:spPr>
          <a:xfrm>
            <a:off x="3863975" y="9420225"/>
            <a:ext cx="2954400" cy="496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8bd0cd38c5_0_18:notes"/>
          <p:cNvSpPr/>
          <p:nvPr>
            <p:ph idx="2" type="sldImg"/>
          </p:nvPr>
        </p:nvSpPr>
        <p:spPr>
          <a:xfrm>
            <a:off x="96838" y="590550"/>
            <a:ext cx="6626100" cy="37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8bd0cd38c5_0_18:notes"/>
          <p:cNvSpPr txBox="1"/>
          <p:nvPr>
            <p:ph idx="1" type="body"/>
          </p:nvPr>
        </p:nvSpPr>
        <p:spPr>
          <a:xfrm>
            <a:off x="928688" y="4710113"/>
            <a:ext cx="5240400" cy="446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28bd0cd38c5_0_18:notes"/>
          <p:cNvSpPr txBox="1"/>
          <p:nvPr>
            <p:ph idx="12" type="sldNum"/>
          </p:nvPr>
        </p:nvSpPr>
        <p:spPr>
          <a:xfrm>
            <a:off x="3863975" y="9420225"/>
            <a:ext cx="2954400" cy="496800"/>
          </a:xfrm>
          <a:prstGeom prst="rect">
            <a:avLst/>
          </a:prstGeom>
        </p:spPr>
        <p:txBody>
          <a:bodyPr anchorCtr="0" anchor="b" bIns="45650" lIns="91300" spcFirstLastPara="1" rIns="91300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8F8F8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598100" y="1976277"/>
            <a:ext cx="8222100" cy="151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None/>
              <a:defRPr b="1" sz="38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598088" y="3401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 sz="19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0400" y="716950"/>
            <a:ext cx="2626401" cy="137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5850" y="2504725"/>
            <a:ext cx="2958148" cy="2638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noFill/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971400" y="1698125"/>
            <a:ext cx="5353200" cy="507000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971400" y="2412600"/>
            <a:ext cx="5353200" cy="507000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971400" y="3157375"/>
            <a:ext cx="5353200" cy="507000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971400" y="3902150"/>
            <a:ext cx="5353200" cy="507000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641150" y="460725"/>
            <a:ext cx="7819200" cy="725100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2070600" y="518400"/>
            <a:ext cx="4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2900">
                <a:latin typeface="Roboto"/>
                <a:ea typeface="Roboto"/>
                <a:cs typeface="Roboto"/>
                <a:sym typeface="Roboto"/>
              </a:rPr>
              <a:t>Title - change in “design”</a:t>
            </a:r>
            <a:endParaRPr b="1" sz="29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9600" y="493200"/>
            <a:ext cx="1259049" cy="65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1147" y="2991150"/>
            <a:ext cx="2412854" cy="2152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noFill/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idx="1" type="body"/>
          </p:nvPr>
        </p:nvSpPr>
        <p:spPr>
          <a:xfrm>
            <a:off x="311175" y="920565"/>
            <a:ext cx="8520600" cy="38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11175" y="216814"/>
            <a:ext cx="8520600" cy="530100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17713"/>
              </a:buClr>
              <a:buSzPts val="3000"/>
              <a:buNone/>
              <a:defRPr b="1">
                <a:solidFill>
                  <a:srgbClr val="31771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33" name="Google Shape;3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2675" y="220414"/>
            <a:ext cx="991555" cy="520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4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8390544" y="347563"/>
            <a:ext cx="44123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 txBox="1"/>
          <p:nvPr/>
        </p:nvSpPr>
        <p:spPr>
          <a:xfrm>
            <a:off x="219600" y="4784025"/>
            <a:ext cx="89418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rPr>
              <a:t>Good Presentation</a:t>
            </a:r>
            <a:endParaRPr sz="1100">
              <a:solidFill>
                <a:srgbClr val="5E5E5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4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100">
                <a:solidFill>
                  <a:srgbClr val="5E5E5E"/>
                </a:solidFill>
              </a:defRPr>
            </a:lvl1pPr>
            <a:lvl2pPr lvl="1" rtl="0">
              <a:buNone/>
              <a:defRPr sz="1100">
                <a:solidFill>
                  <a:srgbClr val="5E5E5E"/>
                </a:solidFill>
              </a:defRPr>
            </a:lvl2pPr>
            <a:lvl3pPr lvl="2" rtl="0">
              <a:buNone/>
              <a:defRPr sz="1100">
                <a:solidFill>
                  <a:srgbClr val="5E5E5E"/>
                </a:solidFill>
              </a:defRPr>
            </a:lvl3pPr>
            <a:lvl4pPr lvl="3" rtl="0">
              <a:buNone/>
              <a:defRPr sz="1100">
                <a:solidFill>
                  <a:srgbClr val="5E5E5E"/>
                </a:solidFill>
              </a:defRPr>
            </a:lvl4pPr>
            <a:lvl5pPr lvl="4" rtl="0">
              <a:buNone/>
              <a:defRPr sz="1100">
                <a:solidFill>
                  <a:srgbClr val="5E5E5E"/>
                </a:solidFill>
              </a:defRPr>
            </a:lvl5pPr>
            <a:lvl6pPr lvl="5" rtl="0">
              <a:buNone/>
              <a:defRPr sz="1100">
                <a:solidFill>
                  <a:srgbClr val="5E5E5E"/>
                </a:solidFill>
              </a:defRPr>
            </a:lvl6pPr>
            <a:lvl7pPr lvl="6" rtl="0">
              <a:buNone/>
              <a:defRPr sz="1100">
                <a:solidFill>
                  <a:srgbClr val="5E5E5E"/>
                </a:solidFill>
              </a:defRPr>
            </a:lvl7pPr>
            <a:lvl8pPr lvl="7" rtl="0">
              <a:buNone/>
              <a:defRPr sz="1100">
                <a:solidFill>
                  <a:srgbClr val="5E5E5E"/>
                </a:solidFill>
              </a:defRPr>
            </a:lvl8pPr>
            <a:lvl9pPr lvl="8" rtl="0">
              <a:buNone/>
              <a:defRPr sz="1100">
                <a:solidFill>
                  <a:srgbClr val="5E5E5E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311175" y="4838400"/>
            <a:ext cx="852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unsplash.com/@matthewjungling?utm_content=creditCopyText&amp;utm_medium=referral&amp;utm_source=unsplash" TargetMode="External"/><Relationship Id="rId4" Type="http://schemas.openxmlformats.org/officeDocument/2006/relationships/hyperlink" Target="https://unsplash.com/@matthewjungling?utm_content=creditCopyText&amp;utm_medium=referral&amp;utm_source=unsplash" TargetMode="External"/><Relationship Id="rId5" Type="http://schemas.openxmlformats.org/officeDocument/2006/relationships/hyperlink" Target="https://unsplash.com/photos/l3abtqeY38E?utm_content=creditCopyText&amp;utm_medium=referral&amp;utm_source=unsplash" TargetMode="External"/><Relationship Id="rId6" Type="http://schemas.openxmlformats.org/officeDocument/2006/relationships/hyperlink" Target="https://unsplash.com/photos/l3abtqeY38E?utm_content=creditCopyText&amp;utm_medium=referral&amp;utm_source=unsplash" TargetMode="External"/><Relationship Id="rId7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schreibzentrum.fak13.uni-muenchen.de/freitagsworkshops/index.html" TargetMode="External"/><Relationship Id="rId4" Type="http://schemas.openxmlformats.org/officeDocument/2006/relationships/hyperlink" Target="https://www.nature.com/articles/d41586-018-07780-5" TargetMode="External"/><Relationship Id="rId5" Type="http://schemas.openxmlformats.org/officeDocument/2006/relationships/hyperlink" Target="https://www.pexels.com/" TargetMode="External"/><Relationship Id="rId6" Type="http://schemas.openxmlformats.org/officeDocument/2006/relationships/hyperlink" Target="https://unsplash.com/" TargetMode="External"/><Relationship Id="rId7" Type="http://schemas.openxmlformats.org/officeDocument/2006/relationships/hyperlink" Target="http://ccr.sigcomm.org/online/files/p83-keshavA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2499" y="4149974"/>
            <a:ext cx="1474074" cy="96520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 txBox="1"/>
          <p:nvPr/>
        </p:nvSpPr>
        <p:spPr>
          <a:xfrm>
            <a:off x="37375" y="4525250"/>
            <a:ext cx="213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de-DE" sz="700">
                <a:solidFill>
                  <a:srgbClr val="3F3F3F"/>
                </a:solidFill>
              </a:rPr>
              <a:t>Some parts of this presentation are adapted from earlier presentations prepared by Thomas Brox, Frank Hutter, Andre Biedenkapp, Katharina Eggensperger and Matthias Feurer.</a:t>
            </a:r>
            <a:endParaRPr sz="700">
              <a:solidFill>
                <a:srgbClr val="3F3F3F"/>
              </a:solidFill>
            </a:endParaRPr>
          </a:p>
        </p:txBody>
      </p:sp>
      <p:sp>
        <p:nvSpPr>
          <p:cNvPr id="44" name="Google Shape;44;p5"/>
          <p:cNvSpPr txBox="1"/>
          <p:nvPr/>
        </p:nvSpPr>
        <p:spPr>
          <a:xfrm>
            <a:off x="598100" y="1747677"/>
            <a:ext cx="8222100" cy="151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3800">
                <a:latin typeface="Roboto"/>
                <a:ea typeface="Roboto"/>
                <a:cs typeface="Roboto"/>
                <a:sym typeface="Roboto"/>
              </a:rPr>
              <a:t>How to give a </a:t>
            </a:r>
            <a:endParaRPr b="1" sz="3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3800">
                <a:latin typeface="Roboto"/>
                <a:ea typeface="Roboto"/>
                <a:cs typeface="Roboto"/>
                <a:sym typeface="Roboto"/>
              </a:rPr>
              <a:t>good presentation?</a:t>
            </a:r>
            <a:endParaRPr b="1" sz="3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" name="Google Shape;45;p5"/>
          <p:cNvCxnSpPr/>
          <p:nvPr/>
        </p:nvCxnSpPr>
        <p:spPr>
          <a:xfrm>
            <a:off x="700650" y="3304800"/>
            <a:ext cx="5275500" cy="16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" name="Google Shape;46;p5"/>
          <p:cNvSpPr txBox="1"/>
          <p:nvPr/>
        </p:nvSpPr>
        <p:spPr>
          <a:xfrm>
            <a:off x="598100" y="3401742"/>
            <a:ext cx="8222100" cy="10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50">
                <a:latin typeface="Roboto"/>
                <a:ea typeface="Roboto"/>
                <a:cs typeface="Roboto"/>
                <a:sym typeface="Roboto"/>
              </a:rPr>
              <a:t>Interpretable Machine Learning</a:t>
            </a:r>
            <a:r>
              <a:rPr lang="de-DE" sz="1450">
                <a:latin typeface="Roboto"/>
                <a:ea typeface="Roboto"/>
                <a:cs typeface="Roboto"/>
                <a:sym typeface="Roboto"/>
              </a:rPr>
              <a:t> Group</a:t>
            </a:r>
            <a:endParaRPr sz="14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50">
                <a:latin typeface="Roboto"/>
                <a:ea typeface="Roboto"/>
                <a:cs typeface="Roboto"/>
                <a:sym typeface="Roboto"/>
              </a:rPr>
              <a:t>Chair for Statistical Learning and Data Science</a:t>
            </a:r>
            <a:endParaRPr sz="14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50">
                <a:latin typeface="Roboto"/>
                <a:ea typeface="Roboto"/>
                <a:cs typeface="Roboto"/>
                <a:sym typeface="Roboto"/>
              </a:rPr>
              <a:t>LMU München</a:t>
            </a:r>
            <a:endParaRPr sz="145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Why should you aim for a good presentation?</a:t>
            </a:r>
            <a:endParaRPr/>
          </a:p>
        </p:txBody>
      </p:sp>
      <p:sp>
        <p:nvSpPr>
          <p:cNvPr id="52" name="Google Shape;52;p6"/>
          <p:cNvSpPr txBox="1"/>
          <p:nvPr>
            <p:ph idx="1" type="body"/>
          </p:nvPr>
        </p:nvSpPr>
        <p:spPr>
          <a:xfrm>
            <a:off x="311175" y="920565"/>
            <a:ext cx="8520600" cy="38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de-DE" sz="1800"/>
              <a:t>→ You’ll have to give a lot of presentations in your life (in academia </a:t>
            </a:r>
            <a:r>
              <a:rPr b="1" lang="de-DE" sz="1800"/>
              <a:t>and</a:t>
            </a:r>
            <a:r>
              <a:rPr lang="de-DE" sz="1800"/>
              <a:t> industry)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-DE" sz="1800"/>
              <a:t>Such presentations can decide whether</a:t>
            </a:r>
            <a:endParaRPr sz="1800"/>
          </a:p>
          <a:p>
            <a:pPr indent="-247650" lvl="1" marL="742950" rtl="0" algn="l">
              <a:spcBef>
                <a:spcPts val="1200"/>
              </a:spcBef>
              <a:spcAft>
                <a:spcPts val="0"/>
              </a:spcAft>
              <a:buSzPts val="1400"/>
              <a:buChar char="•"/>
            </a:pPr>
            <a:r>
              <a:rPr lang="de-DE"/>
              <a:t>You get a job</a:t>
            </a:r>
            <a:endParaRPr/>
          </a:p>
          <a:p>
            <a:pPr indent="-247650" lvl="1" marL="742950" rtl="0" algn="l">
              <a:spcBef>
                <a:spcPts val="1200"/>
              </a:spcBef>
              <a:spcAft>
                <a:spcPts val="0"/>
              </a:spcAft>
              <a:buSzPts val="1400"/>
              <a:buChar char="•"/>
            </a:pPr>
            <a:r>
              <a:rPr lang="de-DE"/>
              <a:t>You get a promotion</a:t>
            </a:r>
            <a:endParaRPr/>
          </a:p>
          <a:p>
            <a:pPr indent="-247650" lvl="1" marL="742950" rtl="0" algn="l">
              <a:spcBef>
                <a:spcPts val="1200"/>
              </a:spcBef>
              <a:spcAft>
                <a:spcPts val="0"/>
              </a:spcAft>
              <a:buSzPts val="1400"/>
              <a:buChar char="•"/>
            </a:pPr>
            <a:r>
              <a:rPr lang="de-DE"/>
              <a:t>Your favourite project gets funded</a:t>
            </a:r>
            <a:endParaRPr sz="1800"/>
          </a:p>
          <a:p>
            <a:pPr indent="-247650" lvl="1" marL="742950" rtl="0" algn="l">
              <a:spcBef>
                <a:spcPts val="1200"/>
              </a:spcBef>
              <a:spcAft>
                <a:spcPts val="0"/>
              </a:spcAft>
              <a:buSzPts val="1400"/>
              <a:buChar char="•"/>
            </a:pPr>
            <a:r>
              <a:rPr lang="de-DE"/>
              <a:t>You get the resources you need</a:t>
            </a:r>
            <a:endParaRPr sz="1800"/>
          </a:p>
          <a:p>
            <a:pPr indent="-247650" lvl="1" marL="742950" rtl="0" algn="l">
              <a:spcBef>
                <a:spcPts val="1200"/>
              </a:spcBef>
              <a:spcAft>
                <a:spcPts val="0"/>
              </a:spcAft>
              <a:buSzPts val="1400"/>
              <a:buChar char="•"/>
            </a:pPr>
            <a:r>
              <a:rPr lang="de-DE"/>
              <a:t>…</a:t>
            </a:r>
            <a:endParaRPr/>
          </a:p>
          <a:p>
            <a:pPr indent="-273050" lvl="1" marL="742950" rtl="0" algn="l">
              <a:spcBef>
                <a:spcPts val="1200"/>
              </a:spcBef>
              <a:spcAft>
                <a:spcPts val="1200"/>
              </a:spcAft>
              <a:buSzPts val="1800"/>
              <a:buChar char="•"/>
            </a:pPr>
            <a:r>
              <a:rPr lang="de-DE"/>
              <a:t>You get a good grade ;-)</a:t>
            </a:r>
            <a:endParaRPr sz="1000"/>
          </a:p>
        </p:txBody>
      </p:sp>
      <p:sp>
        <p:nvSpPr>
          <p:cNvPr id="53" name="Google Shape;53;p6"/>
          <p:cNvSpPr txBox="1"/>
          <p:nvPr/>
        </p:nvSpPr>
        <p:spPr>
          <a:xfrm>
            <a:off x="6007750" y="4613550"/>
            <a:ext cx="202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>
                <a:solidFill>
                  <a:schemeClr val="dk1"/>
                </a:solidFill>
              </a:rPr>
              <a:t>Photo by</a:t>
            </a:r>
            <a:r>
              <a:rPr lang="de-DE" sz="8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de-DE" sz="800" u="sng">
                <a:solidFill>
                  <a:schemeClr val="hlink"/>
                </a:solidFill>
                <a:hlinkClick r:id="rId4"/>
              </a:rPr>
              <a:t>Matthew Jungling</a:t>
            </a:r>
            <a:r>
              <a:rPr lang="de-DE" sz="800">
                <a:solidFill>
                  <a:schemeClr val="dk1"/>
                </a:solidFill>
              </a:rPr>
              <a:t> on</a:t>
            </a:r>
            <a:r>
              <a:rPr lang="de-DE" sz="8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de-DE" sz="800" u="sng">
                <a:solidFill>
                  <a:schemeClr val="hlink"/>
                </a:solidFill>
                <a:hlinkClick r:id="rId6"/>
              </a:rPr>
              <a:t>Unsplash</a:t>
            </a:r>
            <a:r>
              <a:rPr lang="de-DE" sz="800">
                <a:solidFill>
                  <a:schemeClr val="dk1"/>
                </a:solidFill>
              </a:rPr>
              <a:t> </a:t>
            </a:r>
            <a:endParaRPr sz="800"/>
          </a:p>
        </p:txBody>
      </p:sp>
      <p:pic>
        <p:nvPicPr>
          <p:cNvPr id="54" name="Google Shape;54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40275" y="1810675"/>
            <a:ext cx="1894601" cy="28405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6" name="Google Shape;56;p6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 sz="2800"/>
              <a:t>Getting your points across </a:t>
            </a:r>
            <a:endParaRPr sz="2800"/>
          </a:p>
        </p:txBody>
      </p:sp>
      <p:sp>
        <p:nvSpPr>
          <p:cNvPr id="62" name="Google Shape;62;p7"/>
          <p:cNvSpPr txBox="1"/>
          <p:nvPr>
            <p:ph idx="1" type="body"/>
          </p:nvPr>
        </p:nvSpPr>
        <p:spPr>
          <a:xfrm>
            <a:off x="311175" y="920565"/>
            <a:ext cx="8520600" cy="38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de-DE" sz="2000"/>
              <a:t>What matters is what your audience gets </a:t>
            </a:r>
            <a:br>
              <a:rPr b="1" lang="de-DE" sz="2000"/>
            </a:br>
            <a:r>
              <a:rPr b="1" lang="de-DE" sz="2000"/>
              <a:t>(not which points you “covered”)</a:t>
            </a:r>
            <a:endParaRPr b="1" sz="2000"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de-DE" sz="2000"/>
              <a:t>Often, the audience is not as interested in the topic as you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de-DE" sz="2000"/>
              <a:t>You’ll have to tell them why they should care</a:t>
            </a:r>
            <a:endParaRPr sz="2000"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de-DE" sz="2000"/>
              <a:t>If nobody cares or understands </a:t>
            </a:r>
            <a:r>
              <a:rPr b="1" lang="de-DE" sz="2000"/>
              <a:t>it’s typically your own fault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1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7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65" name="Google Shape;65;p7"/>
          <p:cNvSpPr txBox="1"/>
          <p:nvPr/>
        </p:nvSpPr>
        <p:spPr>
          <a:xfrm>
            <a:off x="643025" y="3496800"/>
            <a:ext cx="6411600" cy="1035300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lang="de-DE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At least the key points must get across to everyone</a:t>
            </a:r>
            <a:r>
              <a:rPr lang="de-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-DE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Some details may only be for experts, that’s OK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 few simple rules</a:t>
            </a:r>
            <a:endParaRPr/>
          </a:p>
        </p:txBody>
      </p:sp>
      <p:sp>
        <p:nvSpPr>
          <p:cNvPr id="72" name="Google Shape;72;p8"/>
          <p:cNvSpPr txBox="1"/>
          <p:nvPr>
            <p:ph idx="1" type="body"/>
          </p:nvPr>
        </p:nvSpPr>
        <p:spPr>
          <a:xfrm>
            <a:off x="311175" y="920565"/>
            <a:ext cx="8520600" cy="385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-469900" lvl="0" marL="51435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AutoNum type="arabicPeriod"/>
            </a:pPr>
            <a:r>
              <a:rPr lang="de-DE" sz="1700">
                <a:solidFill>
                  <a:srgbClr val="3F3F3F"/>
                </a:solidFill>
              </a:rPr>
              <a:t>Structure is key</a:t>
            </a:r>
            <a:endParaRPr sz="2100">
              <a:solidFill>
                <a:srgbClr val="3F3F3F"/>
              </a:solidFill>
            </a:endParaRPr>
          </a:p>
          <a:p>
            <a:pPr indent="-469900" lvl="0" marL="514350" rtl="0" algn="l"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AutoNum type="arabicPeriod"/>
            </a:pPr>
            <a:r>
              <a:rPr lang="de-DE" sz="1700">
                <a:solidFill>
                  <a:srgbClr val="3F3F3F"/>
                </a:solidFill>
              </a:rPr>
              <a:t>Adapt your talk to your audience</a:t>
            </a:r>
            <a:endParaRPr sz="2100">
              <a:solidFill>
                <a:srgbClr val="3F3F3F"/>
              </a:solidFill>
            </a:endParaRPr>
          </a:p>
          <a:p>
            <a:pPr indent="-469900" lvl="0" marL="514350" rtl="0" algn="l"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AutoNum type="arabicPeriod"/>
            </a:pPr>
            <a:r>
              <a:rPr lang="de-DE" sz="1700">
                <a:solidFill>
                  <a:srgbClr val="3F3F3F"/>
                </a:solidFill>
              </a:rPr>
              <a:t>Present in pictures</a:t>
            </a:r>
            <a:endParaRPr sz="2100">
              <a:solidFill>
                <a:srgbClr val="3F3F3F"/>
              </a:solidFill>
            </a:endParaRPr>
          </a:p>
          <a:p>
            <a:pPr indent="-469900" lvl="0" marL="514350" rtl="0" algn="l"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AutoNum type="arabicPeriod"/>
            </a:pPr>
            <a:r>
              <a:rPr lang="de-DE" sz="1700">
                <a:solidFill>
                  <a:srgbClr val="3F3F3F"/>
                </a:solidFill>
              </a:rPr>
              <a:t>Readable slides</a:t>
            </a:r>
            <a:endParaRPr sz="2100">
              <a:solidFill>
                <a:srgbClr val="3F3F3F"/>
              </a:solidFill>
            </a:endParaRPr>
          </a:p>
          <a:p>
            <a:pPr indent="-469900" lvl="0" marL="514350" rtl="0" algn="l"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AutoNum type="arabicPeriod"/>
            </a:pPr>
            <a:r>
              <a:rPr lang="de-DE" sz="1700">
                <a:solidFill>
                  <a:srgbClr val="3F3F3F"/>
                </a:solidFill>
              </a:rPr>
              <a:t>Practice, Practice, Practice!</a:t>
            </a:r>
            <a:endParaRPr sz="2100">
              <a:solidFill>
                <a:srgbClr val="3F3F3F"/>
              </a:solidFill>
            </a:endParaRPr>
          </a:p>
          <a:p>
            <a:pPr indent="-469900" lvl="0" marL="514350" rtl="0" algn="l"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AutoNum type="arabicPeriod"/>
            </a:pPr>
            <a:r>
              <a:rPr lang="de-DE" sz="1700">
                <a:solidFill>
                  <a:srgbClr val="3F3F3F"/>
                </a:solidFill>
              </a:rPr>
              <a:t>Check your technical equipment before</a:t>
            </a:r>
            <a:endParaRPr sz="2100">
              <a:solidFill>
                <a:srgbClr val="3F3F3F"/>
              </a:solidFill>
            </a:endParaRPr>
          </a:p>
          <a:p>
            <a:pPr indent="-469900" lvl="0" marL="514350" rtl="0" algn="l"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AutoNum type="arabicPeriod"/>
            </a:pPr>
            <a:r>
              <a:rPr lang="de-DE" sz="1700">
                <a:solidFill>
                  <a:srgbClr val="3F3F3F"/>
                </a:solidFill>
              </a:rPr>
              <a:t>Behave naturally</a:t>
            </a:r>
            <a:endParaRPr sz="2100">
              <a:solidFill>
                <a:srgbClr val="3F3F3F"/>
              </a:solidFill>
            </a:endParaRPr>
          </a:p>
          <a:p>
            <a:pPr indent="-469900" lvl="0" marL="514350" rtl="0" algn="l"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AutoNum type="arabicPeriod"/>
            </a:pPr>
            <a:r>
              <a:rPr lang="de-DE" sz="1700">
                <a:solidFill>
                  <a:srgbClr val="3F3F3F"/>
                </a:solidFill>
              </a:rPr>
              <a:t>Learn from the mistakes of others</a:t>
            </a:r>
            <a:endParaRPr sz="21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700"/>
          </a:p>
        </p:txBody>
      </p:sp>
      <p:sp>
        <p:nvSpPr>
          <p:cNvPr id="73" name="Google Shape;73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#1 Structure is key</a:t>
            </a:r>
            <a:endParaRPr/>
          </a:p>
        </p:txBody>
      </p:sp>
      <p:sp>
        <p:nvSpPr>
          <p:cNvPr id="81" name="Google Shape;81;p9"/>
          <p:cNvSpPr txBox="1"/>
          <p:nvPr>
            <p:ph idx="1" type="body"/>
          </p:nvPr>
        </p:nvSpPr>
        <p:spPr>
          <a:xfrm>
            <a:off x="311175" y="920565"/>
            <a:ext cx="8520600" cy="38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3206"/>
              <a:buFont typeface="Arial"/>
              <a:buNone/>
            </a:pPr>
            <a:r>
              <a:rPr lang="de-DE" sz="2102">
                <a:solidFill>
                  <a:srgbClr val="3F3F3F"/>
                </a:solidFill>
              </a:rPr>
              <a:t>High level to low level to high level</a:t>
            </a:r>
            <a:endParaRPr sz="2102">
              <a:solidFill>
                <a:srgbClr val="3F3F3F"/>
              </a:solidFill>
            </a:endParaRPr>
          </a:p>
          <a:p>
            <a:pPr indent="-30861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de-DE">
                <a:solidFill>
                  <a:srgbClr val="3F3F3F"/>
                </a:solidFill>
              </a:rPr>
              <a:t>Catch your audience’s attention</a:t>
            </a:r>
            <a:endParaRPr>
              <a:solidFill>
                <a:srgbClr val="3F3F3F"/>
              </a:solidFill>
            </a:endParaRPr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de-DE">
                <a:solidFill>
                  <a:srgbClr val="3F3F3F"/>
                </a:solidFill>
              </a:rPr>
              <a:t>Then tell them what you’ll tell them and why they should care (priming)</a:t>
            </a:r>
            <a:endParaRPr>
              <a:solidFill>
                <a:srgbClr val="3F3F3F"/>
              </a:solidFill>
            </a:endParaRPr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de-DE">
                <a:solidFill>
                  <a:srgbClr val="3F3F3F"/>
                </a:solidFill>
              </a:rPr>
              <a:t>Then tell it to them</a:t>
            </a:r>
            <a:endParaRPr>
              <a:solidFill>
                <a:srgbClr val="3F3F3F"/>
              </a:solidFill>
            </a:endParaRPr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352941"/>
              <a:buChar char="●"/>
            </a:pPr>
            <a:r>
              <a:rPr lang="de-DE">
                <a:solidFill>
                  <a:srgbClr val="3F3F3F"/>
                </a:solidFill>
              </a:rPr>
              <a:t>Then tell them what you just told them</a:t>
            </a:r>
            <a:endParaRPr sz="510">
              <a:solidFill>
                <a:srgbClr val="3F3F3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3206"/>
              <a:buFont typeface="Arial"/>
              <a:buNone/>
            </a:pPr>
            <a:r>
              <a:rPr lang="de-DE" sz="2102">
                <a:solidFill>
                  <a:srgbClr val="3F3F3F"/>
                </a:solidFill>
              </a:rPr>
              <a:t>Make transitions clear, don’t forget the “meta-talk”</a:t>
            </a:r>
            <a:endParaRPr sz="2102">
              <a:solidFill>
                <a:srgbClr val="3F3F3F"/>
              </a:solidFill>
            </a:endParaRPr>
          </a:p>
          <a:p>
            <a:pPr indent="-30861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de-DE">
                <a:solidFill>
                  <a:srgbClr val="3F3F3F"/>
                </a:solidFill>
              </a:rPr>
              <a:t>E.g., </a:t>
            </a:r>
            <a:r>
              <a:rPr i="1" lang="de-DE">
                <a:solidFill>
                  <a:srgbClr val="3F3F3F"/>
                </a:solidFill>
              </a:rPr>
              <a:t>In order to explain X, first I’ll need to explain Y</a:t>
            </a:r>
            <a:endParaRPr i="1">
              <a:solidFill>
                <a:srgbClr val="3F3F3F"/>
              </a:solidFill>
            </a:endParaRPr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de-DE">
                <a:solidFill>
                  <a:srgbClr val="3F3F3F"/>
                </a:solidFill>
              </a:rPr>
              <a:t>E.g., </a:t>
            </a:r>
            <a:r>
              <a:rPr i="1" lang="de-DE">
                <a:solidFill>
                  <a:srgbClr val="3F3F3F"/>
                </a:solidFill>
              </a:rPr>
              <a:t>Now that we’ve seen X and Y, we have the ingredients to do Z</a:t>
            </a:r>
            <a:endParaRPr i="1">
              <a:solidFill>
                <a:srgbClr val="3F3F3F"/>
              </a:solidFill>
            </a:endParaRPr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de-DE">
                <a:solidFill>
                  <a:srgbClr val="3F3F3F"/>
                </a:solidFill>
              </a:rPr>
              <a:t>Remind the audience where you are in the talk, e.g. using a reoccurring outline slide</a:t>
            </a:r>
            <a:endParaRPr>
              <a:solidFill>
                <a:srgbClr val="3F3F3F"/>
              </a:solidFill>
            </a:endParaRPr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352941"/>
              <a:buChar char="●"/>
            </a:pPr>
            <a:r>
              <a:rPr lang="de-DE">
                <a:solidFill>
                  <a:srgbClr val="3F3F3F"/>
                </a:solidFill>
              </a:rPr>
              <a:t>Use meaningful titles</a:t>
            </a:r>
            <a:endParaRPr sz="510">
              <a:solidFill>
                <a:srgbClr val="3F3F3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3206"/>
              <a:buFont typeface="Arial"/>
              <a:buNone/>
            </a:pPr>
            <a:r>
              <a:rPr lang="de-DE" sz="2102">
                <a:solidFill>
                  <a:srgbClr val="3F3F3F"/>
                </a:solidFill>
              </a:rPr>
              <a:t>Don’t get lost in details</a:t>
            </a:r>
            <a:endParaRPr sz="2102">
              <a:solidFill>
                <a:srgbClr val="3F3F3F"/>
              </a:solidFill>
            </a:endParaRPr>
          </a:p>
          <a:p>
            <a:pPr indent="-30861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de-DE">
                <a:solidFill>
                  <a:srgbClr val="3F3F3F"/>
                </a:solidFill>
              </a:rPr>
              <a:t>In case of doubt leave out some details</a:t>
            </a:r>
            <a:endParaRPr>
              <a:solidFill>
                <a:srgbClr val="3F3F3F"/>
              </a:solidFill>
            </a:endParaRPr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de-DE">
                <a:solidFill>
                  <a:srgbClr val="3F3F3F"/>
                </a:solidFill>
              </a:rPr>
              <a:t>Use a “T-structure”: combine broad coverage of a topic with depth about one (or few) key aspects</a:t>
            </a:r>
            <a:endParaRPr>
              <a:solidFill>
                <a:srgbClr val="3F3F3F"/>
              </a:solidFill>
            </a:endParaRPr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80000"/>
              <a:buChar char="●"/>
            </a:pPr>
            <a:r>
              <a:rPr lang="de-DE">
                <a:solidFill>
                  <a:srgbClr val="3F3F3F"/>
                </a:solidFill>
              </a:rPr>
              <a:t>Focus on what you find most interesting</a:t>
            </a:r>
            <a:endParaRPr sz="1000"/>
          </a:p>
        </p:txBody>
      </p:sp>
      <p:sp>
        <p:nvSpPr>
          <p:cNvPr id="82" name="Google Shape;82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83" name="Google Shape;83;p9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de-DE"/>
              <a:t>#1 Structure is key</a:t>
            </a:r>
            <a:endParaRPr/>
          </a:p>
        </p:txBody>
      </p:sp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311175" y="920565"/>
            <a:ext cx="8520600" cy="38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de-DE" sz="1800">
                <a:solidFill>
                  <a:srgbClr val="3F3F3F"/>
                </a:solidFill>
              </a:rPr>
              <a:t>Start </a:t>
            </a:r>
            <a:r>
              <a:rPr lang="de-DE" sz="1800">
                <a:solidFill>
                  <a:srgbClr val="3F3F3F"/>
                </a:solidFill>
              </a:rPr>
              <a:t>your presentation with</a:t>
            </a:r>
            <a:endParaRPr sz="1800">
              <a:solidFill>
                <a:srgbClr val="3F3F3F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500"/>
              <a:buChar char="●"/>
            </a:pPr>
            <a:r>
              <a:rPr lang="de-DE" sz="1500">
                <a:solidFill>
                  <a:srgbClr val="3F3F3F"/>
                </a:solidFill>
              </a:rPr>
              <a:t>a brief introduction of yourself</a:t>
            </a:r>
            <a:endParaRPr sz="1500">
              <a:solidFill>
                <a:srgbClr val="3F3F3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Char char="●"/>
            </a:pPr>
            <a:r>
              <a:rPr lang="de-DE" sz="1500">
                <a:solidFill>
                  <a:srgbClr val="3F3F3F"/>
                </a:solidFill>
              </a:rPr>
              <a:t>a motivation of why your topic matters and why the audience should care</a:t>
            </a:r>
            <a:endParaRPr sz="1500">
              <a:solidFill>
                <a:srgbClr val="3F3F3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Char char="●"/>
            </a:pPr>
            <a:r>
              <a:rPr lang="de-DE" sz="1500">
                <a:solidFill>
                  <a:srgbClr val="3F3F3F"/>
                </a:solidFill>
              </a:rPr>
              <a:t>what you will talk about (outline slide only after the motivation)</a:t>
            </a:r>
            <a:endParaRPr sz="15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de-DE" sz="1800">
                <a:solidFill>
                  <a:srgbClr val="3F3F3F"/>
                </a:solidFill>
              </a:rPr>
              <a:t>End </a:t>
            </a:r>
            <a:r>
              <a:rPr lang="de-DE" sz="1800">
                <a:solidFill>
                  <a:srgbClr val="3F3F3F"/>
                </a:solidFill>
              </a:rPr>
              <a:t>your presentation with</a:t>
            </a:r>
            <a:endParaRPr sz="1800">
              <a:solidFill>
                <a:srgbClr val="3F3F3F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500"/>
              <a:buChar char="●"/>
            </a:pPr>
            <a:r>
              <a:rPr lang="de-DE" sz="1500">
                <a:solidFill>
                  <a:srgbClr val="3F3F3F"/>
                </a:solidFill>
              </a:rPr>
              <a:t>the main takeaways</a:t>
            </a:r>
            <a:endParaRPr sz="1500">
              <a:solidFill>
                <a:srgbClr val="3F3F3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Char char="●"/>
            </a:pPr>
            <a:r>
              <a:rPr lang="de-DE" sz="1500">
                <a:solidFill>
                  <a:srgbClr val="3F3F3F"/>
                </a:solidFill>
              </a:rPr>
              <a:t>an outlook</a:t>
            </a:r>
            <a:endParaRPr sz="1500">
              <a:solidFill>
                <a:srgbClr val="3F3F3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Char char="●"/>
            </a:pPr>
            <a:r>
              <a:rPr lang="de-DE" sz="1500">
                <a:solidFill>
                  <a:srgbClr val="3F3F3F"/>
                </a:solidFill>
              </a:rPr>
              <a:t>a clear statement announcing the end of your presentation, </a:t>
            </a:r>
            <a:br>
              <a:rPr lang="de-DE" sz="1500">
                <a:solidFill>
                  <a:srgbClr val="3F3F3F"/>
                </a:solidFill>
              </a:rPr>
            </a:br>
            <a:r>
              <a:rPr lang="de-DE" sz="1500">
                <a:solidFill>
                  <a:srgbClr val="3F3F3F"/>
                </a:solidFill>
              </a:rPr>
              <a:t>e.g. </a:t>
            </a:r>
            <a:r>
              <a:rPr i="1" lang="de-DE" sz="1500">
                <a:solidFill>
                  <a:srgbClr val="3F3F3F"/>
                </a:solidFill>
              </a:rPr>
              <a:t>That‘s it from my side and now I am happy to answer questions</a:t>
            </a:r>
            <a:endParaRPr sz="1500">
              <a:solidFill>
                <a:srgbClr val="3F3F3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Char char="●"/>
            </a:pPr>
            <a:r>
              <a:rPr lang="de-DE" sz="1500">
                <a:solidFill>
                  <a:srgbClr val="3F3F3F"/>
                </a:solidFill>
              </a:rPr>
              <a:t>a Thank-you slide is not necessary, better show the conclusion/discussion slide </a:t>
            </a:r>
            <a:br>
              <a:rPr lang="de-DE" sz="1500">
                <a:solidFill>
                  <a:srgbClr val="3F3F3F"/>
                </a:solidFill>
              </a:rPr>
            </a:br>
            <a:r>
              <a:rPr lang="de-DE" sz="1500">
                <a:solidFill>
                  <a:srgbClr val="3F3F3F"/>
                </a:solidFill>
              </a:rPr>
              <a:t>(unless you thank collaborators)</a:t>
            </a:r>
            <a:endParaRPr/>
          </a:p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2" name="Google Shape;92;p10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#2 </a:t>
            </a:r>
            <a:r>
              <a:rPr lang="de-DE"/>
              <a:t>Adapt your talk to your audience</a:t>
            </a:r>
            <a:endParaRPr/>
          </a:p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311175" y="920565"/>
            <a:ext cx="8520600" cy="38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195"/>
              <a:buFont typeface="Arial"/>
              <a:buNone/>
            </a:pPr>
            <a:r>
              <a:rPr b="1" lang="de-DE" sz="2016">
                <a:solidFill>
                  <a:srgbClr val="3F3F3F"/>
                </a:solidFill>
              </a:rPr>
              <a:t>The paper you are presenting is written for a specialized research community.</a:t>
            </a:r>
            <a:endParaRPr sz="2016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-DE" sz="1800">
                <a:solidFill>
                  <a:srgbClr val="3F3F3F"/>
                </a:solidFill>
              </a:rPr>
              <a:t>Your audience often has a different background</a:t>
            </a:r>
            <a:endParaRPr sz="1800">
              <a:solidFill>
                <a:srgbClr val="3F3F3F"/>
              </a:solidFill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de-DE">
                <a:solidFill>
                  <a:srgbClr val="3F3F3F"/>
                </a:solidFill>
              </a:rPr>
              <a:t>“Customize” the motivation (and ideally connect it to the topic of event/prior talk)</a:t>
            </a:r>
            <a:endParaRPr>
              <a:solidFill>
                <a:srgbClr val="3F3F3F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de-DE">
                <a:solidFill>
                  <a:srgbClr val="3F3F3F"/>
                </a:solidFill>
              </a:rPr>
              <a:t>Cover the necessary background</a:t>
            </a:r>
            <a:endParaRPr>
              <a:solidFill>
                <a:srgbClr val="3F3F3F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de-DE">
                <a:solidFill>
                  <a:srgbClr val="3F3F3F"/>
                </a:solidFill>
              </a:rPr>
              <a:t>We are experts on some topics – don’t bore us with what we already know</a:t>
            </a:r>
            <a:endParaRPr>
              <a:solidFill>
                <a:srgbClr val="3F3F3F"/>
              </a:solidFill>
            </a:endParaRPr>
          </a:p>
          <a:p>
            <a:pPr indent="0" lvl="2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t/>
            </a:r>
            <a:endParaRPr sz="15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-DE" sz="1800">
                <a:solidFill>
                  <a:srgbClr val="3F3F3F"/>
                </a:solidFill>
              </a:rPr>
              <a:t>In general</a:t>
            </a:r>
            <a:endParaRPr b="1" sz="1800">
              <a:solidFill>
                <a:srgbClr val="3F3F3F"/>
              </a:solidFill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de-DE">
                <a:solidFill>
                  <a:srgbClr val="3F3F3F"/>
                </a:solidFill>
              </a:rPr>
              <a:t>A talk to the CEO is completely different than one to the tech support group</a:t>
            </a:r>
            <a:endParaRPr>
              <a:solidFill>
                <a:srgbClr val="3F3F3F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63636"/>
              <a:buChar char="●"/>
            </a:pPr>
            <a:r>
              <a:rPr lang="de-DE">
                <a:solidFill>
                  <a:srgbClr val="3F3F3F"/>
                </a:solidFill>
              </a:rPr>
              <a:t>A talk applying method X to problem Y is completely different when you’re talking to community studying X or Y</a:t>
            </a:r>
            <a:endParaRPr sz="1100"/>
          </a:p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#3 Present in Pictures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2"/>
          <p:cNvSpPr txBox="1"/>
          <p:nvPr>
            <p:ph idx="1" type="body"/>
          </p:nvPr>
        </p:nvSpPr>
        <p:spPr>
          <a:xfrm>
            <a:off x="311175" y="920565"/>
            <a:ext cx="8520600" cy="38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"/>
          </a:p>
        </p:txBody>
      </p:sp>
      <p:pic>
        <p:nvPicPr>
          <p:cNvPr id="109" name="Google Shape;10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565" y="2049020"/>
            <a:ext cx="3700711" cy="2750013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0" name="Google Shape;11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7327" y="2045600"/>
            <a:ext cx="3677573" cy="2750012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" name="Google Shape;111;p12"/>
          <p:cNvSpPr txBox="1"/>
          <p:nvPr/>
        </p:nvSpPr>
        <p:spPr>
          <a:xfrm>
            <a:off x="8220050" y="1712575"/>
            <a:ext cx="3924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100"/>
              <a:t>✅</a:t>
            </a:r>
            <a:endParaRPr sz="3100"/>
          </a:p>
        </p:txBody>
      </p:sp>
      <p:sp>
        <p:nvSpPr>
          <p:cNvPr id="112" name="Google Shape;112;p12"/>
          <p:cNvSpPr txBox="1"/>
          <p:nvPr/>
        </p:nvSpPr>
        <p:spPr>
          <a:xfrm>
            <a:off x="4004145" y="1738525"/>
            <a:ext cx="3924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100"/>
              <a:t>❌</a:t>
            </a:r>
            <a:endParaRPr sz="3100"/>
          </a:p>
        </p:txBody>
      </p:sp>
      <p:sp>
        <p:nvSpPr>
          <p:cNvPr id="113" name="Google Shape;113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14" name="Google Shape;114;p12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15" name="Google Shape;115;p12"/>
          <p:cNvSpPr txBox="1"/>
          <p:nvPr/>
        </p:nvSpPr>
        <p:spPr>
          <a:xfrm>
            <a:off x="311700" y="959900"/>
            <a:ext cx="67965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2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Slides full of text are hard to follow</a:t>
            </a:r>
            <a:endParaRPr sz="12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Roboto"/>
              <a:buChar char="●"/>
            </a:pPr>
            <a:r>
              <a:rPr lang="de-DE" sz="12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The audience will read and </a:t>
            </a:r>
            <a:r>
              <a:rPr b="1" lang="de-DE" sz="12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not listen to you</a:t>
            </a:r>
            <a:endParaRPr b="1" sz="12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Roboto"/>
              <a:buChar char="●"/>
            </a:pPr>
            <a:r>
              <a:rPr lang="de-DE" sz="12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Reduce text, use </a:t>
            </a:r>
            <a:r>
              <a:rPr b="1" lang="de-DE" sz="12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more images</a:t>
            </a:r>
            <a:endParaRPr sz="120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Roboto"/>
              <a:buChar char="●"/>
            </a:pPr>
            <a:r>
              <a:rPr lang="de-DE" sz="12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Use animation to guide focus of attention</a:t>
            </a:r>
            <a:endParaRPr i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#3 Present in Pictures</a:t>
            </a:r>
            <a:endParaRPr/>
          </a:p>
        </p:txBody>
      </p:sp>
      <p:sp>
        <p:nvSpPr>
          <p:cNvPr id="122" name="Google Shape;122;p13"/>
          <p:cNvSpPr txBox="1"/>
          <p:nvPr>
            <p:ph idx="1" type="body"/>
          </p:nvPr>
        </p:nvSpPr>
        <p:spPr>
          <a:xfrm>
            <a:off x="311175" y="920565"/>
            <a:ext cx="8520600" cy="38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200"/>
              <a:t>How to </a:t>
            </a:r>
            <a:r>
              <a:rPr b="1" lang="de-DE" sz="1200"/>
              <a:t>present a graph/plot?</a:t>
            </a:r>
            <a:endParaRPr b="1"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de-DE" sz="1200"/>
              <a:t>always explain what the graph shows (ideally with some visual highlighting)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-DE" sz="1200"/>
              <a:t>use presenter to guide audience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-DE" sz="1200"/>
              <a:t>take enough time</a:t>
            </a:r>
            <a:endParaRPr sz="1200"/>
          </a:p>
        </p:txBody>
      </p:sp>
      <p:grpSp>
        <p:nvGrpSpPr>
          <p:cNvPr id="123" name="Google Shape;123;p13"/>
          <p:cNvGrpSpPr/>
          <p:nvPr/>
        </p:nvGrpSpPr>
        <p:grpSpPr>
          <a:xfrm>
            <a:off x="343606" y="2254550"/>
            <a:ext cx="3806869" cy="2429612"/>
            <a:chOff x="491857" y="1639653"/>
            <a:chExt cx="3252900" cy="1939500"/>
          </a:xfrm>
        </p:grpSpPr>
        <p:sp>
          <p:nvSpPr>
            <p:cNvPr id="124" name="Google Shape;124;p13"/>
            <p:cNvSpPr/>
            <p:nvPr/>
          </p:nvSpPr>
          <p:spPr>
            <a:xfrm>
              <a:off x="491857" y="1639653"/>
              <a:ext cx="3252900" cy="19395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5" name="Google Shape;125;p13"/>
            <p:cNvGrpSpPr/>
            <p:nvPr/>
          </p:nvGrpSpPr>
          <p:grpSpPr>
            <a:xfrm>
              <a:off x="526125" y="1734788"/>
              <a:ext cx="3117653" cy="1742500"/>
              <a:chOff x="526125" y="1734788"/>
              <a:chExt cx="3117653" cy="1742500"/>
            </a:xfrm>
          </p:grpSpPr>
          <p:pic>
            <p:nvPicPr>
              <p:cNvPr id="126" name="Google Shape;126;p1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26125" y="1734788"/>
                <a:ext cx="2323325" cy="1742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7" name="Google Shape;127;p1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54082" t="0"/>
              <a:stretch/>
            </p:blipFill>
            <p:spPr>
              <a:xfrm>
                <a:off x="2958591" y="1734800"/>
                <a:ext cx="606850" cy="794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8" name="Google Shape;128;p13"/>
              <p:cNvPicPr preferRelativeResize="0"/>
              <p:nvPr/>
            </p:nvPicPr>
            <p:blipFill rotWithShape="1">
              <a:blip r:embed="rId4">
                <a:alphaModFix/>
              </a:blip>
              <a:srcRect b="0" l="42226" r="0" t="0"/>
              <a:stretch/>
            </p:blipFill>
            <p:spPr>
              <a:xfrm>
                <a:off x="2880241" y="2596900"/>
                <a:ext cx="763537" cy="794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29" name="Google Shape;129;p13"/>
          <p:cNvGrpSpPr/>
          <p:nvPr/>
        </p:nvGrpSpPr>
        <p:grpSpPr>
          <a:xfrm>
            <a:off x="4293175" y="2255750"/>
            <a:ext cx="4556128" cy="2427225"/>
            <a:chOff x="5473510" y="1900310"/>
            <a:chExt cx="2886000" cy="1546200"/>
          </a:xfrm>
        </p:grpSpPr>
        <p:sp>
          <p:nvSpPr>
            <p:cNvPr id="130" name="Google Shape;130;p13"/>
            <p:cNvSpPr/>
            <p:nvPr/>
          </p:nvSpPr>
          <p:spPr>
            <a:xfrm>
              <a:off x="5473510" y="1900310"/>
              <a:ext cx="2886000" cy="15462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1" name="Google Shape;131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491253" y="1988841"/>
              <a:ext cx="2836210" cy="1365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2" name="Google Shape;132;p13"/>
          <p:cNvSpPr txBox="1"/>
          <p:nvPr/>
        </p:nvSpPr>
        <p:spPr>
          <a:xfrm>
            <a:off x="8177175" y="4294539"/>
            <a:ext cx="654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100"/>
              <a:t>✅</a:t>
            </a:r>
            <a:endParaRPr sz="3100"/>
          </a:p>
        </p:txBody>
      </p:sp>
      <p:sp>
        <p:nvSpPr>
          <p:cNvPr id="133" name="Google Shape;133;p13"/>
          <p:cNvSpPr txBox="1"/>
          <p:nvPr/>
        </p:nvSpPr>
        <p:spPr>
          <a:xfrm>
            <a:off x="3543578" y="4307495"/>
            <a:ext cx="6291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100"/>
              <a:t>❌</a:t>
            </a:r>
            <a:endParaRPr sz="3100"/>
          </a:p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3521437" y="996538"/>
            <a:ext cx="42420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de-DE" sz="1230"/>
              <a:t>→ The same applies to equations and tables</a:t>
            </a:r>
            <a:endParaRPr sz="1230"/>
          </a:p>
        </p:txBody>
      </p:sp>
      <p:sp>
        <p:nvSpPr>
          <p:cNvPr id="135" name="Google Shape;135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36" name="Google Shape;136;p13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43" name="Google Shape;143;p14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#3 Present in Pictures, and use animations</a:t>
            </a:r>
            <a:endParaRPr/>
          </a:p>
        </p:txBody>
      </p:sp>
      <p:sp>
        <p:nvSpPr>
          <p:cNvPr id="144" name="Google Shape;144;p14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45" name="Google Shape;14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697" y="1091362"/>
            <a:ext cx="3945600" cy="2960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6" name="Google Shape;146;p14"/>
          <p:cNvSpPr txBox="1"/>
          <p:nvPr/>
        </p:nvSpPr>
        <p:spPr>
          <a:xfrm>
            <a:off x="3783519" y="3685025"/>
            <a:ext cx="6291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100"/>
              <a:t>❌</a:t>
            </a:r>
            <a:endParaRPr sz="3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53" name="Google Shape;153;p15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#3 Present in Pictures, and use animations</a:t>
            </a:r>
            <a:endParaRPr/>
          </a:p>
        </p:txBody>
      </p:sp>
      <p:sp>
        <p:nvSpPr>
          <p:cNvPr id="154" name="Google Shape;154;p15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55" name="Google Shape;15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697" y="1091362"/>
            <a:ext cx="3945600" cy="2960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6" name="Google Shape;156;p15"/>
          <p:cNvSpPr txBox="1"/>
          <p:nvPr/>
        </p:nvSpPr>
        <p:spPr>
          <a:xfrm>
            <a:off x="3783519" y="3685025"/>
            <a:ext cx="6291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100"/>
              <a:t>❌</a:t>
            </a:r>
            <a:endParaRPr sz="3100"/>
          </a:p>
        </p:txBody>
      </p:sp>
      <p:pic>
        <p:nvPicPr>
          <p:cNvPr id="157" name="Google Shape;15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8000" y="1091452"/>
            <a:ext cx="3946523" cy="2960579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8" name="Google Shape;15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8000" y="1091439"/>
            <a:ext cx="3946523" cy="296057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5"/>
          <p:cNvSpPr txBox="1"/>
          <p:nvPr/>
        </p:nvSpPr>
        <p:spPr>
          <a:xfrm>
            <a:off x="8210100" y="3685025"/>
            <a:ext cx="654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100"/>
              <a:t>✅</a:t>
            </a:r>
            <a:endParaRPr sz="3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66" name="Google Shape;166;p16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#3 Present in Pictures, and use animations</a:t>
            </a:r>
            <a:endParaRPr/>
          </a:p>
        </p:txBody>
      </p:sp>
      <p:sp>
        <p:nvSpPr>
          <p:cNvPr id="167" name="Google Shape;167;p16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68" name="Google Shape;16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000" y="1091362"/>
            <a:ext cx="3945600" cy="2960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9" name="Google Shape;169;p16"/>
          <p:cNvSpPr txBox="1"/>
          <p:nvPr/>
        </p:nvSpPr>
        <p:spPr>
          <a:xfrm>
            <a:off x="3784822" y="3685025"/>
            <a:ext cx="6291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100"/>
              <a:t>❌</a:t>
            </a:r>
            <a:endParaRPr sz="3100"/>
          </a:p>
        </p:txBody>
      </p:sp>
      <p:pic>
        <p:nvPicPr>
          <p:cNvPr id="170" name="Google Shape;17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8000" y="1091452"/>
            <a:ext cx="3946523" cy="2960579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1" name="Google Shape;17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8000" y="1091439"/>
            <a:ext cx="3946523" cy="296057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6"/>
          <p:cNvSpPr txBox="1"/>
          <p:nvPr/>
        </p:nvSpPr>
        <p:spPr>
          <a:xfrm>
            <a:off x="8210100" y="3685025"/>
            <a:ext cx="654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100"/>
              <a:t>✅</a:t>
            </a:r>
            <a:endParaRPr sz="3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79" name="Google Shape;179;p17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#3 Present in Pictures, and use animations</a:t>
            </a:r>
            <a:endParaRPr/>
          </a:p>
        </p:txBody>
      </p:sp>
      <p:sp>
        <p:nvSpPr>
          <p:cNvPr id="180" name="Google Shape;180;p17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81" name="Google Shape;1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000" y="1091362"/>
            <a:ext cx="3945600" cy="2960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2" name="Google Shape;182;p17"/>
          <p:cNvSpPr txBox="1"/>
          <p:nvPr/>
        </p:nvSpPr>
        <p:spPr>
          <a:xfrm>
            <a:off x="3784822" y="3685025"/>
            <a:ext cx="6291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100"/>
              <a:t>❌</a:t>
            </a:r>
            <a:endParaRPr sz="3100"/>
          </a:p>
        </p:txBody>
      </p:sp>
      <p:pic>
        <p:nvPicPr>
          <p:cNvPr id="183" name="Google Shape;1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8000" y="1091452"/>
            <a:ext cx="3946523" cy="2960579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4" name="Google Shape;184;p17"/>
          <p:cNvSpPr txBox="1"/>
          <p:nvPr/>
        </p:nvSpPr>
        <p:spPr>
          <a:xfrm>
            <a:off x="8210100" y="3685025"/>
            <a:ext cx="654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100"/>
              <a:t>✅</a:t>
            </a:r>
            <a:endParaRPr sz="3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#4 Readable slides - some tips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459001" y="1036550"/>
            <a:ext cx="83976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800">
                <a:solidFill>
                  <a:srgbClr val="3F3F3F"/>
                </a:solidFill>
              </a:rPr>
              <a:t>Text, Font &amp; Color</a:t>
            </a:r>
            <a:endParaRPr b="1" sz="1800">
              <a:solidFill>
                <a:srgbClr val="3F3F3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AutoNum type="arabicPeriod"/>
            </a:pPr>
            <a:r>
              <a:rPr lang="de-DE" sz="1600">
                <a:solidFill>
                  <a:srgbClr val="7F7F7F"/>
                </a:solidFill>
                <a:highlight>
                  <a:srgbClr val="4F81BD"/>
                </a:highlight>
              </a:rPr>
              <a:t>Make sure to pick a reasonable </a:t>
            </a:r>
            <a:r>
              <a:rPr lang="de-DE" sz="1600">
                <a:solidFill>
                  <a:srgbClr val="FAFF33"/>
                </a:solidFill>
                <a:highlight>
                  <a:schemeClr val="lt1"/>
                </a:highlight>
              </a:rPr>
              <a:t>text and background color</a:t>
            </a:r>
            <a:endParaRPr sz="1600">
              <a:solidFill>
                <a:srgbClr val="FAFF33"/>
              </a:solidFill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AutoNum type="arabicPeriod"/>
            </a:pPr>
            <a:r>
              <a:rPr lang="de-DE" sz="1300">
                <a:solidFill>
                  <a:srgbClr val="3F3F3F"/>
                </a:solidFill>
              </a:rPr>
              <a:t>Can you read this? </a:t>
            </a:r>
            <a:r>
              <a:rPr lang="de-DE" sz="1800">
                <a:solidFill>
                  <a:srgbClr val="3F3F3F"/>
                </a:solidFill>
              </a:rPr>
              <a:t>Also from the back?</a:t>
            </a:r>
            <a:r>
              <a:rPr lang="de-DE" sz="1300">
                <a:solidFill>
                  <a:srgbClr val="3F3F3F"/>
                </a:solidFill>
              </a:rPr>
              <a:t> </a:t>
            </a:r>
            <a:br>
              <a:rPr lang="de-DE" sz="1300">
                <a:solidFill>
                  <a:srgbClr val="3F3F3F"/>
                </a:solidFill>
              </a:rPr>
            </a:br>
            <a:r>
              <a:rPr lang="de-DE" sz="1300">
                <a:solidFill>
                  <a:srgbClr val="3F3F3F"/>
                </a:solidFill>
              </a:rPr>
              <a:t>Remember: Contrast &amp; resolution of your laptop is better than that of the projector (so test it before)</a:t>
            </a:r>
            <a:endParaRPr sz="1300">
              <a:solidFill>
                <a:srgbClr val="3F3F3F"/>
              </a:solidFill>
            </a:endParaRPr>
          </a:p>
          <a:p>
            <a:pPr indent="-26035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00"/>
              <a:buAutoNum type="arabicPeriod"/>
            </a:pPr>
            <a:r>
              <a:rPr lang="de-DE" sz="500">
                <a:solidFill>
                  <a:srgbClr val="3F3F3F"/>
                </a:solidFill>
              </a:rPr>
              <a:t>Sometimes the font size is too tiny. This also applies to axis labels.</a:t>
            </a:r>
            <a:endParaRPr sz="800">
              <a:solidFill>
                <a:srgbClr val="3F3F3F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300"/>
              <a:buAutoNum type="arabicPeriod"/>
            </a:pPr>
            <a:r>
              <a:rPr lang="de-DE" sz="1300">
                <a:solidFill>
                  <a:srgbClr val="3F3F3F"/>
                </a:solidFill>
              </a:rPr>
              <a:t>Pick a single font type and color and use it throughout </a:t>
            </a:r>
            <a:r>
              <a:rPr lang="de-DE" sz="1300">
                <a:solidFill>
                  <a:srgbClr val="3F3F3F"/>
                </a:solidFill>
                <a:latin typeface="Lobster"/>
                <a:ea typeface="Lobster"/>
                <a:cs typeface="Lobster"/>
                <a:sym typeface="Lobster"/>
              </a:rPr>
              <a:t>the whole presentation</a:t>
            </a:r>
            <a:endParaRPr sz="1300">
              <a:solidFill>
                <a:srgbClr val="3F3F3F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AutoNum type="arabicPeriod"/>
            </a:pPr>
            <a:r>
              <a:rPr lang="de-DE" sz="1300">
                <a:solidFill>
                  <a:srgbClr val="3F3F3F"/>
                </a:solidFill>
              </a:rPr>
              <a:t>Highlight important </a:t>
            </a:r>
            <a:r>
              <a:rPr b="1" lang="de-DE" sz="1300">
                <a:solidFill>
                  <a:srgbClr val="3F3F3F"/>
                </a:solidFill>
              </a:rPr>
              <a:t>keywords </a:t>
            </a:r>
            <a:r>
              <a:rPr lang="de-DE" sz="1300">
                <a:solidFill>
                  <a:srgbClr val="3F3F3F"/>
                </a:solidFill>
              </a:rPr>
              <a:t>when there is a lot of text, but: choose a </a:t>
            </a:r>
            <a:r>
              <a:rPr lang="de-DE" sz="1300" u="sng">
                <a:solidFill>
                  <a:srgbClr val="3F3F3F"/>
                </a:solidFill>
              </a:rPr>
              <a:t>consistent </a:t>
            </a:r>
            <a:r>
              <a:rPr i="1" lang="de-DE" sz="1300" u="sng">
                <a:solidFill>
                  <a:srgbClr val="3F3F3F"/>
                </a:solidFill>
              </a:rPr>
              <a:t>way</a:t>
            </a:r>
            <a:r>
              <a:rPr lang="de-DE" sz="1300">
                <a:solidFill>
                  <a:srgbClr val="3F3F3F"/>
                </a:solidFill>
              </a:rPr>
              <a:t> of</a:t>
            </a:r>
            <a:r>
              <a:rPr lang="de-DE" sz="1300">
                <a:solidFill>
                  <a:schemeClr val="dk1"/>
                </a:solidFill>
              </a:rPr>
              <a:t> </a:t>
            </a:r>
            <a:r>
              <a:rPr lang="de-DE" sz="1300">
                <a:solidFill>
                  <a:schemeClr val="lt1"/>
                </a:solidFill>
                <a:highlight>
                  <a:schemeClr val="dk1"/>
                </a:highlight>
              </a:rPr>
              <a:t>highlighting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459000" y="2870675"/>
            <a:ext cx="41835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de-DE" sz="1800">
                <a:solidFill>
                  <a:srgbClr val="3F3F3F"/>
                </a:solidFill>
              </a:rPr>
              <a:t>Graphics</a:t>
            </a:r>
            <a:endParaRPr b="1" sz="1800">
              <a:solidFill>
                <a:srgbClr val="3F3F3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AutoNum type="arabicPeriod"/>
            </a:pPr>
            <a:r>
              <a:rPr lang="de-DE">
                <a:solidFill>
                  <a:srgbClr val="3F3F3F"/>
                </a:solidFill>
              </a:rPr>
              <a:t>Size up figures to use most of the slide.</a:t>
            </a:r>
            <a:endParaRPr>
              <a:solidFill>
                <a:srgbClr val="3F3F3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AutoNum type="arabicPeriod"/>
            </a:pPr>
            <a:r>
              <a:rPr lang="de-DE">
                <a:solidFill>
                  <a:srgbClr val="3F3F3F"/>
                </a:solidFill>
              </a:rPr>
              <a:t>Add some bullet points so its self-contained.</a:t>
            </a:r>
            <a:endParaRPr>
              <a:solidFill>
                <a:srgbClr val="3F3F3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AutoNum type="arabicPeriod"/>
            </a:pPr>
            <a:r>
              <a:rPr lang="de-DE">
                <a:solidFill>
                  <a:srgbClr val="3F3F3F"/>
                </a:solidFill>
              </a:rPr>
              <a:t>Not all animations are useful.</a:t>
            </a:r>
            <a:endParaRPr>
              <a:solidFill>
                <a:srgbClr val="3F3F3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AutoNum type="arabicPeriod"/>
            </a:pPr>
            <a:r>
              <a:rPr lang="de-DE">
                <a:solidFill>
                  <a:srgbClr val="3F3F3F"/>
                </a:solidFill>
              </a:rPr>
              <a:t>Screenshots are okay, if you do not have access to the original image.</a:t>
            </a:r>
            <a:endParaRPr sz="17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4650253" y="2870675"/>
            <a:ext cx="4183500" cy="22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rPr b="1" lang="de-DE" sz="1800">
                <a:solidFill>
                  <a:srgbClr val="3F3F3F"/>
                </a:solidFill>
              </a:rPr>
              <a:t>Other</a:t>
            </a:r>
            <a:endParaRPr b="1" sz="1800">
              <a:solidFill>
                <a:srgbClr val="3F3F3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AutoNum type="arabicPeriod"/>
            </a:pPr>
            <a:r>
              <a:rPr lang="de-DE">
                <a:solidFill>
                  <a:srgbClr val="3F3F3F"/>
                </a:solidFill>
              </a:rPr>
              <a:t>Meke sure tere are no typos in yur slides</a:t>
            </a:r>
            <a:endParaRPr>
              <a:solidFill>
                <a:srgbClr val="3F3F3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AutoNum type="arabicPeriod"/>
            </a:pPr>
            <a:r>
              <a:rPr lang="de-DE">
                <a:solidFill>
                  <a:srgbClr val="3F3F3F"/>
                </a:solidFill>
              </a:rPr>
              <a:t>A list needs more than one entry</a:t>
            </a:r>
            <a:endParaRPr>
              <a:solidFill>
                <a:srgbClr val="3F3F3F"/>
              </a:solidFill>
            </a:endParaRPr>
          </a:p>
          <a:p>
            <a:pPr indent="-260350" lvl="0" marL="74295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</a:pPr>
            <a:r>
              <a:rPr lang="de-DE">
                <a:solidFill>
                  <a:srgbClr val="3F3F3F"/>
                </a:solidFill>
              </a:rPr>
              <a:t>e.g. this is not a list!</a:t>
            </a:r>
            <a:endParaRPr>
              <a:solidFill>
                <a:srgbClr val="3F3F3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AutoNum type="arabicPeriod"/>
            </a:pPr>
            <a:r>
              <a:rPr lang="de-DE">
                <a:solidFill>
                  <a:srgbClr val="3F3F3F"/>
                </a:solidFill>
              </a:rPr>
              <a:t>Make sure slides are self-contained (important for most presentation types)</a:t>
            </a:r>
            <a:endParaRPr>
              <a:solidFill>
                <a:srgbClr val="3F3F3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AutoNum type="arabicPeriod"/>
            </a:pPr>
            <a:r>
              <a:rPr lang="de-DE">
                <a:solidFill>
                  <a:srgbClr val="3F3F3F"/>
                </a:solidFill>
              </a:rPr>
              <a:t>Have slide numbers</a:t>
            </a:r>
            <a:endParaRPr>
              <a:solidFill>
                <a:srgbClr val="3F3F3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AutoNum type="arabicPeriod"/>
            </a:pPr>
            <a:r>
              <a:rPr lang="de-DE">
                <a:solidFill>
                  <a:srgbClr val="3F3F3F"/>
                </a:solidFill>
              </a:rPr>
              <a:t>Have only little content per slide</a:t>
            </a:r>
            <a:endParaRPr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8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95" name="Google Shape;195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9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#5 Practice, Practice, Practice</a:t>
            </a:r>
            <a:endParaRPr/>
          </a:p>
        </p:txBody>
      </p:sp>
      <p:sp>
        <p:nvSpPr>
          <p:cNvPr id="202" name="Google Shape;202;p19"/>
          <p:cNvSpPr txBox="1"/>
          <p:nvPr>
            <p:ph idx="1" type="body"/>
          </p:nvPr>
        </p:nvSpPr>
        <p:spPr>
          <a:xfrm>
            <a:off x="311175" y="920565"/>
            <a:ext cx="8520600" cy="3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AutoNum type="arabicPeriod"/>
            </a:pPr>
            <a:r>
              <a:rPr b="1" lang="de-DE" sz="1400">
                <a:solidFill>
                  <a:srgbClr val="3F3F3F"/>
                </a:solidFill>
              </a:rPr>
              <a:t>Plan each part!</a:t>
            </a:r>
            <a:endParaRPr b="1" sz="1400">
              <a:solidFill>
                <a:srgbClr val="3F3F3F"/>
              </a:solidFill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</a:pPr>
            <a:r>
              <a:rPr lang="de-DE" sz="1400">
                <a:solidFill>
                  <a:srgbClr val="3F3F3F"/>
                </a:solidFill>
              </a:rPr>
              <a:t>Have a time budget</a:t>
            </a:r>
            <a:endParaRPr sz="1400">
              <a:solidFill>
                <a:srgbClr val="3F3F3F"/>
              </a:solidFill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</a:pPr>
            <a:r>
              <a:rPr lang="de-DE" sz="1400">
                <a:solidFill>
                  <a:srgbClr val="3F3F3F"/>
                </a:solidFill>
              </a:rPr>
              <a:t>Have bullet points with the main points</a:t>
            </a:r>
            <a:endParaRPr sz="1400">
              <a:solidFill>
                <a:srgbClr val="3F3F3F"/>
              </a:solidFill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</a:pPr>
            <a:r>
              <a:rPr lang="de-DE" sz="1400">
                <a:solidFill>
                  <a:srgbClr val="3F3F3F"/>
                </a:solidFill>
              </a:rPr>
              <a:t>Practice &amp; check the timing for the part</a:t>
            </a:r>
            <a:endParaRPr sz="800">
              <a:solidFill>
                <a:srgbClr val="3F3F3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AutoNum type="arabicPeriod"/>
            </a:pPr>
            <a:r>
              <a:rPr b="1" lang="de-DE" sz="1400">
                <a:solidFill>
                  <a:srgbClr val="3F3F3F"/>
                </a:solidFill>
              </a:rPr>
              <a:t>Put it all together and practice!</a:t>
            </a:r>
            <a:endParaRPr b="1" sz="1400">
              <a:solidFill>
                <a:srgbClr val="3F3F3F"/>
              </a:solidFill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</a:pPr>
            <a:r>
              <a:rPr lang="de-DE" sz="1400">
                <a:solidFill>
                  <a:srgbClr val="3F3F3F"/>
                </a:solidFill>
              </a:rPr>
              <a:t>Do the transitions work?</a:t>
            </a:r>
            <a:endParaRPr sz="1400">
              <a:solidFill>
                <a:srgbClr val="3F3F3F"/>
              </a:solidFill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</a:pPr>
            <a:r>
              <a:rPr lang="de-DE" sz="1400">
                <a:solidFill>
                  <a:srgbClr val="3F3F3F"/>
                </a:solidFill>
              </a:rPr>
              <a:t>Always get stuck at the same point? Change that point!</a:t>
            </a:r>
            <a:endParaRPr sz="1400">
              <a:solidFill>
                <a:srgbClr val="3F3F3F"/>
              </a:solidFill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</a:pPr>
            <a:r>
              <a:rPr lang="de-DE" sz="1400">
                <a:solidFill>
                  <a:srgbClr val="3F3F3F"/>
                </a:solidFill>
              </a:rPr>
              <a:t>Don’t speak too fast! Speaking too slowly is almost impossible</a:t>
            </a:r>
            <a:endParaRPr sz="1400">
              <a:solidFill>
                <a:srgbClr val="3F3F3F"/>
              </a:solidFill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</a:pPr>
            <a:r>
              <a:rPr lang="de-DE" sz="1400">
                <a:solidFill>
                  <a:srgbClr val="3F3F3F"/>
                </a:solidFill>
              </a:rPr>
              <a:t>Make use of breaks</a:t>
            </a:r>
            <a:endParaRPr sz="800">
              <a:solidFill>
                <a:srgbClr val="3F3F3F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300"/>
              <a:buAutoNum type="arabicPeriod"/>
            </a:pPr>
            <a:r>
              <a:rPr b="1" lang="de-DE" sz="1300">
                <a:solidFill>
                  <a:srgbClr val="3F3F3F"/>
                </a:solidFill>
              </a:rPr>
              <a:t>Finetune </a:t>
            </a:r>
            <a:r>
              <a:rPr b="1" lang="de-DE" sz="1300">
                <a:solidFill>
                  <a:srgbClr val="3F3F3F"/>
                </a:solidFill>
              </a:rPr>
              <a:t>start and beginning!</a:t>
            </a:r>
            <a:endParaRPr b="1" sz="1300">
              <a:solidFill>
                <a:srgbClr val="3F3F3F"/>
              </a:solidFill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</a:pPr>
            <a:r>
              <a:rPr lang="de-DE" sz="1400">
                <a:solidFill>
                  <a:srgbClr val="3F3F3F"/>
                </a:solidFill>
              </a:rPr>
              <a:t>Know how you want to start </a:t>
            </a:r>
            <a:br>
              <a:rPr lang="de-DE" sz="1400">
                <a:solidFill>
                  <a:srgbClr val="3F3F3F"/>
                </a:solidFill>
              </a:rPr>
            </a:br>
            <a:r>
              <a:rPr lang="de-DE" sz="1400">
                <a:solidFill>
                  <a:srgbClr val="3F3F3F"/>
                </a:solidFill>
              </a:rPr>
              <a:t>(when you’re most nervous)</a:t>
            </a:r>
            <a:endParaRPr sz="1400">
              <a:solidFill>
                <a:srgbClr val="3F3F3F"/>
              </a:solidFill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</a:pPr>
            <a:r>
              <a:rPr lang="de-DE" sz="1400">
                <a:solidFill>
                  <a:srgbClr val="3F3F3F"/>
                </a:solidFill>
              </a:rPr>
              <a:t>Know how you want to end </a:t>
            </a:r>
            <a:br>
              <a:rPr lang="de-DE" sz="1400">
                <a:solidFill>
                  <a:srgbClr val="3F3F3F"/>
                </a:solidFill>
              </a:rPr>
            </a:br>
            <a:r>
              <a:rPr lang="de-DE" sz="1400">
                <a:solidFill>
                  <a:srgbClr val="3F3F3F"/>
                </a:solidFill>
              </a:rPr>
              <a:t>(what the audience remembers)</a:t>
            </a:r>
            <a:endParaRPr sz="1400">
              <a:solidFill>
                <a:srgbClr val="3F3F3F"/>
              </a:solidFill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6301275" y="2393575"/>
            <a:ext cx="2707800" cy="24012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800">
                <a:solidFill>
                  <a:srgbClr val="3F3F3F"/>
                </a:solidFill>
              </a:rPr>
              <a:t>⭐ Bonus </a:t>
            </a:r>
            <a:r>
              <a:rPr b="1" lang="de-DE" sz="1800">
                <a:solidFill>
                  <a:srgbClr val="3F3F3F"/>
                </a:solidFill>
              </a:rPr>
              <a:t>tipps</a:t>
            </a:r>
            <a:endParaRPr b="1" sz="1800">
              <a:solidFill>
                <a:srgbClr val="3F3F3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</a:pPr>
            <a:r>
              <a:rPr lang="de-DE">
                <a:solidFill>
                  <a:srgbClr val="3F3F3F"/>
                </a:solidFill>
              </a:rPr>
              <a:t>Starting at a random slide of your presentation</a:t>
            </a:r>
            <a:endParaRPr>
              <a:solidFill>
                <a:srgbClr val="3F3F3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</a:pPr>
            <a:r>
              <a:rPr lang="de-DE">
                <a:solidFill>
                  <a:srgbClr val="3F3F3F"/>
                </a:solidFill>
              </a:rPr>
              <a:t>Stand and use presentation mode (as realistic as possible)</a:t>
            </a:r>
            <a:endParaRPr>
              <a:solidFill>
                <a:srgbClr val="3F3F3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</a:pPr>
            <a:r>
              <a:rPr lang="de-DE">
                <a:solidFill>
                  <a:srgbClr val="3F3F3F"/>
                </a:solidFill>
              </a:rPr>
              <a:t>Think about potential questions</a:t>
            </a:r>
            <a:endParaRPr>
              <a:solidFill>
                <a:srgbClr val="3F3F3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</a:pPr>
            <a:r>
              <a:rPr lang="de-DE">
                <a:solidFill>
                  <a:srgbClr val="3F3F3F"/>
                </a:solidFill>
              </a:rPr>
              <a:t>Have backup slides with left out details</a:t>
            </a:r>
            <a:endParaRPr>
              <a:solidFill>
                <a:srgbClr val="3F3F3F"/>
              </a:solidFill>
            </a:endParaRPr>
          </a:p>
        </p:txBody>
      </p:sp>
      <p:sp>
        <p:nvSpPr>
          <p:cNvPr id="204" name="Google Shape;204;p19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05" name="Google Shape;205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#6 </a:t>
            </a:r>
            <a:r>
              <a:rPr lang="de-DE"/>
              <a:t>Check your technical equipment before</a:t>
            </a:r>
            <a:endParaRPr/>
          </a:p>
        </p:txBody>
      </p:sp>
      <p:sp>
        <p:nvSpPr>
          <p:cNvPr id="212" name="Google Shape;212;p20"/>
          <p:cNvSpPr txBox="1"/>
          <p:nvPr>
            <p:ph idx="1" type="body"/>
          </p:nvPr>
        </p:nvSpPr>
        <p:spPr>
          <a:xfrm>
            <a:off x="311175" y="920565"/>
            <a:ext cx="8520600" cy="38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F3F3F"/>
                </a:solidFill>
              </a:rPr>
              <a:t>Checklist</a:t>
            </a:r>
            <a:endParaRPr sz="1600">
              <a:solidFill>
                <a:srgbClr val="3F3F3F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600"/>
              <a:buChar char="●"/>
            </a:pPr>
            <a:r>
              <a:rPr lang="de-DE" sz="1600">
                <a:solidFill>
                  <a:srgbClr val="3F3F3F"/>
                </a:solidFill>
              </a:rPr>
              <a:t>Do you have to bring your own laptop?</a:t>
            </a:r>
            <a:endParaRPr sz="1600">
              <a:solidFill>
                <a:srgbClr val="3F3F3F"/>
              </a:solidFill>
            </a:endParaRPr>
          </a:p>
          <a:p>
            <a:pPr indent="-3048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Char char="○"/>
            </a:pPr>
            <a:r>
              <a:rPr lang="de-DE" sz="1200">
                <a:solidFill>
                  <a:srgbClr val="3F3F3F"/>
                </a:solidFill>
              </a:rPr>
              <a:t>Does your laptop work with the projector?</a:t>
            </a:r>
            <a:endParaRPr sz="1200">
              <a:solidFill>
                <a:srgbClr val="3F3F3F"/>
              </a:solidFill>
            </a:endParaRPr>
          </a:p>
          <a:p>
            <a:pPr indent="-3048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Char char="○"/>
            </a:pPr>
            <a:r>
              <a:rPr lang="de-DE" sz="1200">
                <a:solidFill>
                  <a:srgbClr val="3F3F3F"/>
                </a:solidFill>
              </a:rPr>
              <a:t>Do you have the right dongle?</a:t>
            </a:r>
            <a:endParaRPr sz="1200">
              <a:solidFill>
                <a:srgbClr val="3F3F3F"/>
              </a:solidFill>
            </a:endParaRPr>
          </a:p>
          <a:p>
            <a:pPr indent="-3048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Char char="○"/>
            </a:pPr>
            <a:r>
              <a:rPr lang="de-DE" sz="1200">
                <a:solidFill>
                  <a:srgbClr val="3F3F3F"/>
                </a:solidFill>
              </a:rPr>
              <a:t>Instant messaging (Teams, Zoom, Slack, Mattermost, etc) switched off?</a:t>
            </a:r>
            <a:endParaRPr sz="1200">
              <a:solidFill>
                <a:srgbClr val="3F3F3F"/>
              </a:solidFill>
            </a:endParaRPr>
          </a:p>
          <a:p>
            <a:pPr indent="-3048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Char char="○"/>
            </a:pPr>
            <a:r>
              <a:rPr lang="de-DE" sz="1200">
                <a:solidFill>
                  <a:srgbClr val="3F3F3F"/>
                </a:solidFill>
              </a:rPr>
              <a:t>Desktop free of too personal items?</a:t>
            </a:r>
            <a:endParaRPr sz="1200">
              <a:solidFill>
                <a:srgbClr val="3F3F3F"/>
              </a:solidFill>
            </a:endParaRPr>
          </a:p>
          <a:p>
            <a:pPr indent="-3048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Char char="○"/>
            </a:pPr>
            <a:r>
              <a:rPr lang="de-DE" sz="1200">
                <a:solidFill>
                  <a:srgbClr val="3F3F3F"/>
                </a:solidFill>
              </a:rPr>
              <a:t>Screen saver switched off? </a:t>
            </a:r>
            <a:endParaRPr sz="1200">
              <a:solidFill>
                <a:srgbClr val="3F3F3F"/>
              </a:solidFill>
            </a:endParaRPr>
          </a:p>
          <a:p>
            <a:pPr indent="-3048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Char char="○"/>
            </a:pPr>
            <a:r>
              <a:rPr lang="de-DE" sz="1200">
                <a:solidFill>
                  <a:srgbClr val="3F3F3F"/>
                </a:solidFill>
              </a:rPr>
              <a:t>Enough battery or laptop plugged in?</a:t>
            </a:r>
            <a:endParaRPr sz="1200">
              <a:solidFill>
                <a:srgbClr val="3F3F3F"/>
              </a:solidFill>
            </a:endParaRPr>
          </a:p>
          <a:p>
            <a:pPr indent="-3048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Char char="○"/>
            </a:pPr>
            <a:r>
              <a:rPr lang="de-DE" sz="1200">
                <a:solidFill>
                  <a:srgbClr val="3F3F3F"/>
                </a:solidFill>
              </a:rPr>
              <a:t>Are all updates installed?</a:t>
            </a:r>
            <a:endParaRPr sz="1200">
              <a:solidFill>
                <a:srgbClr val="3F3F3F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●"/>
            </a:pPr>
            <a:r>
              <a:rPr lang="de-DE" sz="1600">
                <a:solidFill>
                  <a:srgbClr val="3F3F3F"/>
                </a:solidFill>
              </a:rPr>
              <a:t>Is your presentation in the right format?</a:t>
            </a:r>
            <a:endParaRPr sz="1600">
              <a:solidFill>
                <a:srgbClr val="3F3F3F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●"/>
            </a:pPr>
            <a:r>
              <a:rPr lang="de-DE" sz="1600">
                <a:solidFill>
                  <a:srgbClr val="3F3F3F"/>
                </a:solidFill>
              </a:rPr>
              <a:t>Do all videos show properly?</a:t>
            </a:r>
            <a:endParaRPr sz="1600">
              <a:solidFill>
                <a:srgbClr val="3F3F3F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●"/>
            </a:pPr>
            <a:r>
              <a:rPr lang="de-DE" sz="1600">
                <a:solidFill>
                  <a:srgbClr val="3F3F3F"/>
                </a:solidFill>
              </a:rPr>
              <a:t>Does audio work?</a:t>
            </a:r>
            <a:endParaRPr sz="1600">
              <a:solidFill>
                <a:srgbClr val="3F3F3F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●"/>
            </a:pPr>
            <a:r>
              <a:rPr lang="de-DE" sz="1600">
                <a:solidFill>
                  <a:srgbClr val="3F3F3F"/>
                </a:solidFill>
              </a:rPr>
              <a:t>(if applicable) Does your laser pointer work?</a:t>
            </a:r>
            <a:endParaRPr sz="1600">
              <a:solidFill>
                <a:srgbClr val="3F3F3F"/>
              </a:solidFill>
            </a:endParaRPr>
          </a:p>
        </p:txBody>
      </p:sp>
      <p:pic>
        <p:nvPicPr>
          <p:cNvPr id="213" name="Google Shape;213;p20"/>
          <p:cNvPicPr preferRelativeResize="0"/>
          <p:nvPr/>
        </p:nvPicPr>
        <p:blipFill rotWithShape="1">
          <a:blip r:embed="rId3">
            <a:alphaModFix/>
          </a:blip>
          <a:srcRect b="17847" l="74223" r="775" t="16801"/>
          <a:stretch/>
        </p:blipFill>
        <p:spPr>
          <a:xfrm>
            <a:off x="6423937" y="1229875"/>
            <a:ext cx="2187412" cy="3554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422425" y="3968375"/>
            <a:ext cx="5630100" cy="816000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de-DE" sz="1700">
                <a:solidFill>
                  <a:schemeClr val="dk1"/>
                </a:solidFill>
              </a:rPr>
              <a:t>⭐ </a:t>
            </a:r>
            <a:r>
              <a:rPr b="1" lang="de-DE" sz="1700">
                <a:solidFill>
                  <a:srgbClr val="3F3F3F"/>
                </a:solidFill>
              </a:rPr>
              <a:t>Bonus tipps</a:t>
            </a:r>
            <a:endParaRPr b="1" sz="1700">
              <a:solidFill>
                <a:srgbClr val="3F3F3F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i="0" lang="de-DE" sz="1300" u="none" cap="none" strike="noStrike">
                <a:solidFill>
                  <a:srgbClr val="000000"/>
                </a:solidFill>
              </a:rPr>
              <a:t>Prepare and test your equipment before the talk!</a:t>
            </a:r>
            <a:endParaRPr i="0" sz="1300" u="none" cap="none" strike="noStrike">
              <a:solidFill>
                <a:srgbClr val="000000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-DE" sz="1300"/>
              <a:t>Have your slides also as a PDF ready</a:t>
            </a:r>
            <a:endParaRPr sz="1300"/>
          </a:p>
        </p:txBody>
      </p:sp>
      <p:sp>
        <p:nvSpPr>
          <p:cNvPr id="215" name="Google Shape;215;p20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6" name="Google Shape;216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#7 </a:t>
            </a:r>
            <a:r>
              <a:rPr lang="de-DE"/>
              <a:t>Behave Naturally</a:t>
            </a:r>
            <a:endParaRPr/>
          </a:p>
        </p:txBody>
      </p:sp>
      <p:sp>
        <p:nvSpPr>
          <p:cNvPr id="223" name="Google Shape;223;p21"/>
          <p:cNvSpPr txBox="1"/>
          <p:nvPr>
            <p:ph idx="1" type="body"/>
          </p:nvPr>
        </p:nvSpPr>
        <p:spPr>
          <a:xfrm>
            <a:off x="311175" y="920565"/>
            <a:ext cx="8520600" cy="38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Font typeface="Arial"/>
              <a:buNone/>
            </a:pPr>
            <a:r>
              <a:rPr lang="de-DE" sz="1700">
                <a:solidFill>
                  <a:srgbClr val="3F3F3F"/>
                </a:solidFill>
              </a:rPr>
              <a:t>Keep </a:t>
            </a:r>
            <a:r>
              <a:rPr b="1" lang="de-DE" sz="1700">
                <a:solidFill>
                  <a:srgbClr val="3F3F3F"/>
                </a:solidFill>
              </a:rPr>
              <a:t>eye contact </a:t>
            </a:r>
            <a:r>
              <a:rPr lang="de-DE" sz="1700">
                <a:solidFill>
                  <a:srgbClr val="3F3F3F"/>
                </a:solidFill>
              </a:rPr>
              <a:t>with the audience; don’t turn your back</a:t>
            </a:r>
            <a:endParaRPr sz="1700">
              <a:solidFill>
                <a:srgbClr val="3F3F3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9999"/>
              <a:buFont typeface="Arial"/>
              <a:buNone/>
            </a:pPr>
            <a:r>
              <a:rPr lang="de-DE" sz="1700">
                <a:solidFill>
                  <a:srgbClr val="3F3F3F"/>
                </a:solidFill>
              </a:rPr>
              <a:t>→ But do </a:t>
            </a:r>
            <a:r>
              <a:rPr lang="de-DE" sz="1700" u="sng">
                <a:solidFill>
                  <a:srgbClr val="3F3F3F"/>
                </a:solidFill>
              </a:rPr>
              <a:t>not</a:t>
            </a:r>
            <a:r>
              <a:rPr lang="de-DE" sz="1700">
                <a:solidFill>
                  <a:srgbClr val="3F3F3F"/>
                </a:solidFill>
              </a:rPr>
              <a:t> wonder what they might think of your presentation! (now it’s too late)</a:t>
            </a:r>
            <a:endParaRPr sz="1700">
              <a:solidFill>
                <a:srgbClr val="3F3F3F"/>
              </a:solidFill>
            </a:endParaRPr>
          </a:p>
          <a:p>
            <a:pPr indent="0" lvl="1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9999"/>
              <a:buFont typeface="Arial"/>
              <a:buNone/>
            </a:pPr>
            <a:r>
              <a:t/>
            </a:r>
            <a:endParaRPr sz="1700">
              <a:solidFill>
                <a:srgbClr val="3F3F3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-DE" sz="1700">
                <a:solidFill>
                  <a:srgbClr val="3F3F3F"/>
                </a:solidFill>
              </a:rPr>
              <a:t>Relax!</a:t>
            </a:r>
            <a:endParaRPr sz="1700">
              <a:solidFill>
                <a:srgbClr val="3F3F3F"/>
              </a:solidFill>
            </a:endParaRPr>
          </a:p>
          <a:p>
            <a:pPr indent="-245745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0000"/>
              <a:buFont typeface="Arial"/>
              <a:buNone/>
            </a:pPr>
            <a:r>
              <a:t/>
            </a:r>
            <a:endParaRPr sz="1700">
              <a:solidFill>
                <a:srgbClr val="3F3F3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40000"/>
              <a:buFont typeface="Arial"/>
              <a:buNone/>
            </a:pPr>
            <a:r>
              <a:rPr b="1" lang="de-DE" sz="1700">
                <a:solidFill>
                  <a:srgbClr val="3F3F3F"/>
                </a:solidFill>
              </a:rPr>
              <a:t>Answering questions</a:t>
            </a:r>
            <a:r>
              <a:rPr lang="de-DE" sz="1700">
                <a:solidFill>
                  <a:srgbClr val="3F3F3F"/>
                </a:solidFill>
              </a:rPr>
              <a:t>:</a:t>
            </a:r>
            <a:endParaRPr sz="1700">
              <a:solidFill>
                <a:srgbClr val="3F3F3F"/>
              </a:solidFill>
            </a:endParaRPr>
          </a:p>
          <a:p>
            <a:pPr indent="-247967" lvl="1" marL="74295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•"/>
            </a:pPr>
            <a:r>
              <a:rPr lang="de-DE" sz="1700">
                <a:solidFill>
                  <a:srgbClr val="3F3F3F"/>
                </a:solidFill>
              </a:rPr>
              <a:t>Listen to the whole question carefully; don’t interrupt</a:t>
            </a:r>
            <a:endParaRPr sz="1700">
              <a:solidFill>
                <a:srgbClr val="3F3F3F"/>
              </a:solidFill>
            </a:endParaRPr>
          </a:p>
          <a:p>
            <a:pPr indent="-247967" lvl="1" marL="74295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•"/>
            </a:pPr>
            <a:r>
              <a:rPr lang="de-DE" sz="1700">
                <a:solidFill>
                  <a:srgbClr val="3F3F3F"/>
                </a:solidFill>
              </a:rPr>
              <a:t>Repeat what you understood, especially for l</a:t>
            </a:r>
            <a:r>
              <a:rPr lang="de-DE" sz="1700">
                <a:solidFill>
                  <a:srgbClr val="3F3F3F"/>
                </a:solidFill>
              </a:rPr>
              <a:t>ong/multiple questions.</a:t>
            </a:r>
            <a:endParaRPr sz="1700">
              <a:solidFill>
                <a:srgbClr val="3F3F3F"/>
              </a:solidFill>
            </a:endParaRPr>
          </a:p>
          <a:p>
            <a:pPr indent="-247967" lvl="1" marL="74295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•"/>
            </a:pPr>
            <a:r>
              <a:rPr lang="de-DE" sz="1700">
                <a:solidFill>
                  <a:srgbClr val="3F3F3F"/>
                </a:solidFill>
              </a:rPr>
              <a:t>Think before you answer</a:t>
            </a:r>
            <a:endParaRPr sz="1700">
              <a:solidFill>
                <a:srgbClr val="3F3F3F"/>
              </a:solidFill>
            </a:endParaRPr>
          </a:p>
          <a:p>
            <a:pPr indent="-247967" lvl="1" marL="74295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•"/>
            </a:pPr>
            <a:r>
              <a:rPr lang="de-DE" sz="1700">
                <a:solidFill>
                  <a:srgbClr val="3F3F3F"/>
                </a:solidFill>
              </a:rPr>
              <a:t>Short and precise</a:t>
            </a:r>
            <a:endParaRPr sz="1700">
              <a:solidFill>
                <a:srgbClr val="3F3F3F"/>
              </a:solidFill>
            </a:endParaRPr>
          </a:p>
          <a:p>
            <a:pPr indent="-247967" lvl="1" marL="74295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•"/>
            </a:pPr>
            <a:r>
              <a:rPr lang="de-DE" sz="1700">
                <a:solidFill>
                  <a:srgbClr val="3F3F3F"/>
                </a:solidFill>
              </a:rPr>
              <a:t>If you don’t know the answer, say so. This is okay.</a:t>
            </a:r>
            <a:endParaRPr sz="1700">
              <a:solidFill>
                <a:srgbClr val="3F3F3F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14150" y="4108250"/>
            <a:ext cx="7539000" cy="694800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de-DE" sz="1700">
                <a:solidFill>
                  <a:schemeClr val="dk1"/>
                </a:solidFill>
              </a:rPr>
              <a:t>⭐ </a:t>
            </a:r>
            <a:r>
              <a:rPr b="1" lang="de-DE" sz="1700">
                <a:solidFill>
                  <a:srgbClr val="3F3F3F"/>
                </a:solidFill>
              </a:rPr>
              <a:t>Bonus tipp</a:t>
            </a:r>
            <a:r>
              <a:rPr b="1" lang="de-DE">
                <a:solidFill>
                  <a:schemeClr val="dk1"/>
                </a:solidFill>
              </a:rPr>
              <a:t>: </a:t>
            </a:r>
            <a:r>
              <a:rPr lang="de-DE" sz="1700"/>
              <a:t>Ask someone to take a video of you presenting and watch it</a:t>
            </a:r>
            <a:endParaRPr sz="1700"/>
          </a:p>
        </p:txBody>
      </p:sp>
      <p:sp>
        <p:nvSpPr>
          <p:cNvPr id="225" name="Google Shape;225;p21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26" name="Google Shape;226;p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#8 Learn from the mistakes of others</a:t>
            </a:r>
            <a:endParaRPr/>
          </a:p>
        </p:txBody>
      </p:sp>
      <p:sp>
        <p:nvSpPr>
          <p:cNvPr id="233" name="Google Shape;233;p22"/>
          <p:cNvSpPr txBox="1"/>
          <p:nvPr>
            <p:ph idx="1" type="body"/>
          </p:nvPr>
        </p:nvSpPr>
        <p:spPr>
          <a:xfrm>
            <a:off x="311175" y="920565"/>
            <a:ext cx="8520600" cy="38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800"/>
              <a:t>H</a:t>
            </a:r>
            <a:r>
              <a:rPr b="1" lang="de-DE" sz="1800"/>
              <a:t>ave you ever been to a presentation where you were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chemeClr val="dk1"/>
                </a:solidFill>
              </a:rPr>
              <a:t>🥱, 😕, </a:t>
            </a:r>
            <a:r>
              <a:rPr lang="de-DE" sz="1800"/>
              <a:t>😵‍💫 </a:t>
            </a:r>
            <a:r>
              <a:rPr lang="de-DE" sz="1800">
                <a:solidFill>
                  <a:srgbClr val="3F3F3F"/>
                </a:solidFill>
              </a:rPr>
              <a:t>or irritated by a specific behaviour of the presenter?</a:t>
            </a:r>
            <a:endParaRPr sz="18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-DE" sz="1800">
                <a:solidFill>
                  <a:srgbClr val="3F3F3F"/>
                </a:solidFill>
              </a:rPr>
              <a:t>Then</a:t>
            </a:r>
            <a:endParaRPr b="1" sz="1800">
              <a:solidFill>
                <a:srgbClr val="3F3F3F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lang="de-DE" sz="1800">
                <a:solidFill>
                  <a:srgbClr val="3F3F3F"/>
                </a:solidFill>
              </a:rPr>
              <a:t>Analyze what went wrong</a:t>
            </a:r>
            <a:endParaRPr sz="1800">
              <a:solidFill>
                <a:srgbClr val="3F3F3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lang="de-DE" sz="1800">
                <a:solidFill>
                  <a:srgbClr val="3F3F3F"/>
                </a:solidFill>
              </a:rPr>
              <a:t>(if possible) give them (friendly &amp; constructive) feedback</a:t>
            </a:r>
            <a:endParaRPr sz="1800">
              <a:solidFill>
                <a:srgbClr val="3F3F3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lang="de-DE" sz="1800">
                <a:solidFill>
                  <a:srgbClr val="3F3F3F"/>
                </a:solidFill>
              </a:rPr>
              <a:t>Do not make the same mistakes</a:t>
            </a:r>
            <a:endParaRPr b="1" sz="1800">
              <a:solidFill>
                <a:srgbClr val="3F3F3F"/>
              </a:solidFill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414150" y="3828225"/>
            <a:ext cx="7737600" cy="898800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de-DE" sz="1700">
                <a:solidFill>
                  <a:schemeClr val="dk1"/>
                </a:solidFill>
              </a:rPr>
              <a:t>⭐ </a:t>
            </a:r>
            <a:r>
              <a:rPr b="1" lang="de-DE" sz="1700">
                <a:solidFill>
                  <a:srgbClr val="3F3F3F"/>
                </a:solidFill>
              </a:rPr>
              <a:t>Bonus tipp</a:t>
            </a:r>
            <a:endParaRPr b="1">
              <a:solidFill>
                <a:srgbClr val="3F3F3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700"/>
              <a:t>If you see a great presentation, learn from it </a:t>
            </a:r>
            <a:br>
              <a:rPr lang="de-DE" sz="1700"/>
            </a:br>
            <a:r>
              <a:rPr lang="de-DE" sz="1700"/>
              <a:t>(and let the presenter know that you enjoyed the presentation)</a:t>
            </a:r>
            <a:endParaRPr sz="1700"/>
          </a:p>
        </p:txBody>
      </p:sp>
      <p:sp>
        <p:nvSpPr>
          <p:cNvPr id="235" name="Google Shape;235;p22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36" name="Google Shape;236;p2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 sz="2800"/>
              <a:t>Giving constructive feedback</a:t>
            </a:r>
            <a:endParaRPr sz="2800"/>
          </a:p>
        </p:txBody>
      </p:sp>
      <p:sp>
        <p:nvSpPr>
          <p:cNvPr id="242" name="Google Shape;242;p23"/>
          <p:cNvSpPr txBox="1"/>
          <p:nvPr>
            <p:ph idx="1" type="body"/>
          </p:nvPr>
        </p:nvSpPr>
        <p:spPr>
          <a:xfrm>
            <a:off x="311175" y="920565"/>
            <a:ext cx="8520600" cy="38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300"/>
              <a:buAutoNum type="arabicPeriod"/>
            </a:pPr>
            <a:r>
              <a:rPr lang="de-DE" sz="2300"/>
              <a:t>Start with </a:t>
            </a:r>
            <a:r>
              <a:rPr b="1" lang="de-DE" sz="2300"/>
              <a:t>something positive</a:t>
            </a:r>
            <a:endParaRPr sz="1700"/>
          </a:p>
          <a:p>
            <a:pPr indent="-3492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de-DE" sz="1900"/>
              <a:t>In your own reviews you don’t want to hear only negative things, either</a:t>
            </a:r>
            <a:endParaRPr sz="1300"/>
          </a:p>
          <a:p>
            <a:pPr indent="-3492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de-DE" sz="1900"/>
              <a:t>People are more receptive to criticism after hearing something positive</a:t>
            </a:r>
            <a:endParaRPr sz="1900"/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 startAt="2"/>
            </a:pPr>
            <a:r>
              <a:rPr lang="de-DE" sz="2300"/>
              <a:t>Make </a:t>
            </a:r>
            <a:r>
              <a:rPr b="1" lang="de-DE" sz="2300"/>
              <a:t>concrete suggestions</a:t>
            </a:r>
            <a:endParaRPr sz="1700"/>
          </a:p>
          <a:p>
            <a:pPr indent="-3492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de-DE" sz="1900"/>
              <a:t>Bad example: </a:t>
            </a:r>
            <a:r>
              <a:rPr i="1" lang="de-DE" sz="1900"/>
              <a:t>The lecture was bad</a:t>
            </a:r>
            <a:endParaRPr i="1" sz="1900"/>
          </a:p>
          <a:p>
            <a:pPr indent="-3492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de-DE" sz="1900"/>
              <a:t>Good example: </a:t>
            </a:r>
            <a:br>
              <a:rPr lang="de-DE" sz="1900"/>
            </a:br>
            <a:r>
              <a:rPr i="1" lang="de-DE" sz="1900"/>
              <a:t>I couldn’t follow the math because I couldn’t read your handwriting on the board – better use a projector or slides</a:t>
            </a:r>
            <a:endParaRPr i="1" sz="1900"/>
          </a:p>
        </p:txBody>
      </p:sp>
      <p:sp>
        <p:nvSpPr>
          <p:cNvPr id="243" name="Google Shape;243;p2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23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 sz="2800"/>
              <a:t>Rule #8: Learn from the mistakes of others</a:t>
            </a:r>
            <a:endParaRPr/>
          </a:p>
        </p:txBody>
      </p:sp>
      <p:sp>
        <p:nvSpPr>
          <p:cNvPr id="250" name="Google Shape;250;p24"/>
          <p:cNvSpPr txBox="1"/>
          <p:nvPr>
            <p:ph idx="1" type="body"/>
          </p:nvPr>
        </p:nvSpPr>
        <p:spPr>
          <a:xfrm>
            <a:off x="311175" y="920565"/>
            <a:ext cx="8520600" cy="38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de-DE" sz="2800"/>
              <a:t>Mistakes, that are easy to avoid:</a:t>
            </a:r>
            <a:endParaRPr sz="2800"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de-DE" sz="2400"/>
              <a:t>Talking too slow/fast/loud/quietly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de-DE" sz="2400"/>
              <a:t>Bad time management, e.g. a 15 minute talk should last 15 minutes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de-DE" sz="2400"/>
              <a:t>Preparing too many slides, e.g. 100 slides for 15 minutes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de-DE" sz="2400"/>
              <a:t>Not spending enough time on a slide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de-DE" sz="2400"/>
              <a:t>Technical difficulties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de-DE" sz="2400"/>
              <a:t>Improvising</a:t>
            </a:r>
            <a:endParaRPr sz="2400"/>
          </a:p>
        </p:txBody>
      </p:sp>
      <p:sp>
        <p:nvSpPr>
          <p:cNvPr id="251" name="Google Shape;251;p2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24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Good scientific practice</a:t>
            </a:r>
            <a:endParaRPr/>
          </a:p>
        </p:txBody>
      </p:sp>
      <p:sp>
        <p:nvSpPr>
          <p:cNvPr id="259" name="Google Shape;259;p25"/>
          <p:cNvSpPr txBox="1"/>
          <p:nvPr>
            <p:ph idx="1" type="body"/>
          </p:nvPr>
        </p:nvSpPr>
        <p:spPr>
          <a:xfrm>
            <a:off x="311175" y="920565"/>
            <a:ext cx="8520600" cy="38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AutoNum type="arabicPeriod"/>
            </a:pPr>
            <a:r>
              <a:rPr b="1" lang="de-DE" sz="1800">
                <a:solidFill>
                  <a:srgbClr val="3F3F3F"/>
                </a:solidFill>
              </a:rPr>
              <a:t>Never present other people’s work as your own</a:t>
            </a:r>
            <a:endParaRPr sz="1800">
              <a:solidFill>
                <a:srgbClr val="3F3F3F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lang="de-DE" sz="1800">
                <a:solidFill>
                  <a:srgbClr val="3F3F3F"/>
                </a:solidFill>
              </a:rPr>
              <a:t>Never copy-paste (even critical if it is your own work)</a:t>
            </a:r>
            <a:endParaRPr sz="1800">
              <a:solidFill>
                <a:srgbClr val="3F3F3F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lang="de-DE" sz="1800">
                <a:solidFill>
                  <a:srgbClr val="3F3F3F"/>
                </a:solidFill>
              </a:rPr>
              <a:t>State explicitly what is your contribution</a:t>
            </a:r>
            <a:endParaRPr sz="1800">
              <a:solidFill>
                <a:srgbClr val="3F3F3F"/>
              </a:solidFill>
            </a:endParaRPr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AutoNum type="arabicPeriod"/>
            </a:pPr>
            <a:r>
              <a:rPr b="1" lang="de-DE" sz="1800">
                <a:solidFill>
                  <a:srgbClr val="3F3F3F"/>
                </a:solidFill>
              </a:rPr>
              <a:t>Give appropriate credit </a:t>
            </a:r>
            <a:endParaRPr b="1" sz="1800">
              <a:solidFill>
                <a:srgbClr val="3F3F3F"/>
              </a:solidFill>
            </a:endParaRPr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lang="de-DE" sz="1800">
                <a:solidFill>
                  <a:srgbClr val="3F3F3F"/>
                </a:solidFill>
              </a:rPr>
              <a:t>references for figures</a:t>
            </a:r>
            <a:endParaRPr sz="1800">
              <a:solidFill>
                <a:srgbClr val="3F3F3F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lang="de-DE" sz="1800">
                <a:solidFill>
                  <a:srgbClr val="3F3F3F"/>
                </a:solidFill>
              </a:rPr>
              <a:t>licence for photos/icons</a:t>
            </a:r>
            <a:endParaRPr sz="1800">
              <a:solidFill>
                <a:srgbClr val="3F3F3F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lang="de-DE" sz="1800">
                <a:solidFill>
                  <a:srgbClr val="3F3F3F"/>
                </a:solidFill>
              </a:rPr>
              <a:t>Quotes: </a:t>
            </a:r>
            <a:r>
              <a:rPr i="1" lang="de-DE" sz="1800">
                <a:solidFill>
                  <a:srgbClr val="3F3F3F"/>
                </a:solidFill>
              </a:rPr>
              <a:t>X and Y [12] define this </a:t>
            </a:r>
            <a:br>
              <a:rPr i="1" lang="de-DE" sz="1800">
                <a:solidFill>
                  <a:srgbClr val="3F3F3F"/>
                </a:solidFill>
              </a:rPr>
            </a:br>
            <a:r>
              <a:rPr i="1" lang="de-DE" sz="1800">
                <a:solidFill>
                  <a:srgbClr val="3F3F3F"/>
                </a:solidFill>
              </a:rPr>
              <a:t>problem as follows : “…”</a:t>
            </a:r>
            <a:endParaRPr i="1" sz="18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-DE" sz="1800">
                <a:solidFill>
                  <a:srgbClr val="3F3F3F"/>
                </a:solidFill>
              </a:rPr>
              <a:t>→ Never cheat or plagiarize on purpose, clearly mark your references, </a:t>
            </a:r>
            <a:br>
              <a:rPr lang="de-DE" sz="1800">
                <a:solidFill>
                  <a:srgbClr val="3F3F3F"/>
                </a:solidFill>
              </a:rPr>
            </a:br>
            <a:r>
              <a:rPr lang="de-DE" sz="1800">
                <a:solidFill>
                  <a:srgbClr val="3F3F3F"/>
                </a:solidFill>
              </a:rPr>
              <a:t>adopt best practices for avoiding mistakes</a:t>
            </a:r>
            <a:endParaRPr b="1" sz="1800">
              <a:solidFill>
                <a:srgbClr val="3F3F3F"/>
              </a:solidFill>
            </a:endParaRPr>
          </a:p>
        </p:txBody>
      </p:sp>
      <p:pic>
        <p:nvPicPr>
          <p:cNvPr id="260" name="Google Shape;26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4447" y="1915599"/>
            <a:ext cx="2475066" cy="152273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6102975" y="3308625"/>
            <a:ext cx="275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de-D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Source: Jones et al [1998]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99665" y="4800595"/>
            <a:ext cx="7404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5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64" name="Google Shape;264;p2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What else matters?</a:t>
            </a:r>
            <a:endParaRPr/>
          </a:p>
        </p:txBody>
      </p:sp>
      <p:sp>
        <p:nvSpPr>
          <p:cNvPr id="271" name="Google Shape;271;p26"/>
          <p:cNvSpPr txBox="1"/>
          <p:nvPr>
            <p:ph idx="1" type="body"/>
          </p:nvPr>
        </p:nvSpPr>
        <p:spPr>
          <a:xfrm>
            <a:off x="311175" y="920565"/>
            <a:ext cx="8520600" cy="38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During the presentation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de-DE"/>
              <a:t>First &amp; Last 30s sec of your presentation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DE"/>
              <a:t>How well did you motivate your problem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DE"/>
              <a:t>How well did </a:t>
            </a:r>
            <a:r>
              <a:rPr lang="de-DE"/>
              <a:t>you</a:t>
            </a:r>
            <a:r>
              <a:rPr lang="de-DE"/>
              <a:t> explain technical details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-DE"/>
              <a:t>During Q&amp;A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de-DE"/>
              <a:t>It is part of your presentation.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DE"/>
              <a:t>Good things to do: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/>
              <a:t>Think about questions that you might want to discuss with the audience? Open problems?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/>
              <a:t>Prepare </a:t>
            </a:r>
            <a:r>
              <a:rPr lang="de-DE"/>
              <a:t>answers</a:t>
            </a:r>
            <a:r>
              <a:rPr lang="de-DE"/>
              <a:t> for obvious questions</a:t>
            </a:r>
            <a:endParaRPr/>
          </a:p>
        </p:txBody>
      </p:sp>
      <p:sp>
        <p:nvSpPr>
          <p:cNvPr id="272" name="Google Shape;272;p26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73" name="Google Shape;273;p2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Takeaways</a:t>
            </a:r>
            <a:endParaRPr/>
          </a:p>
        </p:txBody>
      </p:sp>
      <p:sp>
        <p:nvSpPr>
          <p:cNvPr id="280" name="Google Shape;280;p27"/>
          <p:cNvSpPr txBox="1"/>
          <p:nvPr>
            <p:ph idx="1" type="body"/>
          </p:nvPr>
        </p:nvSpPr>
        <p:spPr>
          <a:xfrm>
            <a:off x="311175" y="920565"/>
            <a:ext cx="8520600" cy="385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-469900" lvl="0" marL="51435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AutoNum type="arabicPeriod"/>
            </a:pPr>
            <a:r>
              <a:rPr lang="de-DE" sz="1700">
                <a:solidFill>
                  <a:srgbClr val="3F3F3F"/>
                </a:solidFill>
              </a:rPr>
              <a:t>Structure is key</a:t>
            </a:r>
            <a:endParaRPr sz="2100">
              <a:solidFill>
                <a:srgbClr val="3F3F3F"/>
              </a:solidFill>
            </a:endParaRPr>
          </a:p>
          <a:p>
            <a:pPr indent="-469900" lvl="0" marL="514350" rtl="0" algn="l"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AutoNum type="arabicPeriod"/>
            </a:pPr>
            <a:r>
              <a:rPr lang="de-DE" sz="1700">
                <a:solidFill>
                  <a:srgbClr val="3F3F3F"/>
                </a:solidFill>
              </a:rPr>
              <a:t>Adapt your talk to your audience</a:t>
            </a:r>
            <a:endParaRPr sz="2100">
              <a:solidFill>
                <a:srgbClr val="3F3F3F"/>
              </a:solidFill>
            </a:endParaRPr>
          </a:p>
          <a:p>
            <a:pPr indent="-469900" lvl="0" marL="514350" rtl="0" algn="l"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AutoNum type="arabicPeriod"/>
            </a:pPr>
            <a:r>
              <a:rPr lang="de-DE" sz="1700">
                <a:solidFill>
                  <a:srgbClr val="3F3F3F"/>
                </a:solidFill>
              </a:rPr>
              <a:t>Present in pictures</a:t>
            </a:r>
            <a:endParaRPr sz="2100">
              <a:solidFill>
                <a:srgbClr val="3F3F3F"/>
              </a:solidFill>
            </a:endParaRPr>
          </a:p>
          <a:p>
            <a:pPr indent="-469900" lvl="0" marL="514350" rtl="0" algn="l"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AutoNum type="arabicPeriod"/>
            </a:pPr>
            <a:r>
              <a:rPr lang="de-DE" sz="1700">
                <a:solidFill>
                  <a:srgbClr val="3F3F3F"/>
                </a:solidFill>
              </a:rPr>
              <a:t>Readable slides</a:t>
            </a:r>
            <a:endParaRPr sz="2100">
              <a:solidFill>
                <a:srgbClr val="3F3F3F"/>
              </a:solidFill>
            </a:endParaRPr>
          </a:p>
          <a:p>
            <a:pPr indent="-469900" lvl="0" marL="514350" rtl="0" algn="l"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AutoNum type="arabicPeriod"/>
            </a:pPr>
            <a:r>
              <a:rPr lang="de-DE" sz="1700">
                <a:solidFill>
                  <a:srgbClr val="3F3F3F"/>
                </a:solidFill>
              </a:rPr>
              <a:t>Practice, Practice, Practice!</a:t>
            </a:r>
            <a:endParaRPr sz="2100">
              <a:solidFill>
                <a:srgbClr val="3F3F3F"/>
              </a:solidFill>
            </a:endParaRPr>
          </a:p>
          <a:p>
            <a:pPr indent="-469900" lvl="0" marL="514350" rtl="0" algn="l"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AutoNum type="arabicPeriod"/>
            </a:pPr>
            <a:r>
              <a:rPr lang="de-DE" sz="1700">
                <a:solidFill>
                  <a:srgbClr val="3F3F3F"/>
                </a:solidFill>
              </a:rPr>
              <a:t>Check your technical equipment before</a:t>
            </a:r>
            <a:endParaRPr sz="2100">
              <a:solidFill>
                <a:srgbClr val="3F3F3F"/>
              </a:solidFill>
            </a:endParaRPr>
          </a:p>
          <a:p>
            <a:pPr indent="-469900" lvl="0" marL="514350" rtl="0" algn="l"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AutoNum type="arabicPeriod"/>
            </a:pPr>
            <a:r>
              <a:rPr lang="de-DE" sz="1700">
                <a:solidFill>
                  <a:srgbClr val="3F3F3F"/>
                </a:solidFill>
              </a:rPr>
              <a:t>Behave naturally</a:t>
            </a:r>
            <a:endParaRPr sz="2100">
              <a:solidFill>
                <a:srgbClr val="3F3F3F"/>
              </a:solidFill>
            </a:endParaRPr>
          </a:p>
          <a:p>
            <a:pPr indent="-469900" lvl="0" marL="514350" rtl="0" algn="l"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AutoNum type="arabicPeriod"/>
            </a:pPr>
            <a:r>
              <a:rPr lang="de-DE" sz="1700">
                <a:solidFill>
                  <a:srgbClr val="3F3F3F"/>
                </a:solidFill>
              </a:rPr>
              <a:t>Learn from the mistakes of others</a:t>
            </a:r>
            <a:endParaRPr sz="21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81" name="Google Shape;281;p27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82" name="Google Shape;282;p2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8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Questions?</a:t>
            </a:r>
            <a:endParaRPr/>
          </a:p>
        </p:txBody>
      </p:sp>
      <p:pic>
        <p:nvPicPr>
          <p:cNvPr id="289" name="Google Shape;2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200" y="1079877"/>
            <a:ext cx="2442850" cy="3382197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 txBox="1"/>
          <p:nvPr/>
        </p:nvSpPr>
        <p:spPr>
          <a:xfrm>
            <a:off x="4377549" y="4484575"/>
            <a:ext cx="43395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de-DE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b="0" i="0" lang="de-DE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de-DE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hdcomics.com/comics/archive.php?comicid=1553</a:t>
            </a:r>
            <a:r>
              <a:rPr b="0" i="0" lang="de-DE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17374" y="1067163"/>
            <a:ext cx="10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de-DE" sz="1300" u="none" cap="none" strike="noStrike">
                <a:solidFill>
                  <a:srgbClr val="FF0000"/>
                </a:solidFill>
              </a:rPr>
              <a:t>SEMINAR</a:t>
            </a:r>
            <a:endParaRPr i="0" sz="1300" u="none" cap="none" strike="noStrike">
              <a:solidFill>
                <a:srgbClr val="FF0000"/>
              </a:solidFill>
            </a:endParaRPr>
          </a:p>
        </p:txBody>
      </p:sp>
      <p:cxnSp>
        <p:nvCxnSpPr>
          <p:cNvPr id="292" name="Google Shape;292;p28"/>
          <p:cNvCxnSpPr/>
          <p:nvPr/>
        </p:nvCxnSpPr>
        <p:spPr>
          <a:xfrm>
            <a:off x="5538600" y="1325525"/>
            <a:ext cx="726600" cy="12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28"/>
          <p:cNvSpPr txBox="1"/>
          <p:nvPr/>
        </p:nvSpPr>
        <p:spPr>
          <a:xfrm>
            <a:off x="6055753" y="2449525"/>
            <a:ext cx="945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de-DE" sz="1200" u="none" cap="none" strike="noStrike">
                <a:solidFill>
                  <a:srgbClr val="FF0000"/>
                </a:solidFill>
              </a:rPr>
              <a:t>NOT</a:t>
            </a:r>
            <a:endParaRPr i="0" sz="1200" u="none" cap="none" strike="noStrike">
              <a:solidFill>
                <a:srgbClr val="FF0000"/>
              </a:solidFill>
            </a:endParaRPr>
          </a:p>
        </p:txBody>
      </p:sp>
      <p:sp>
        <p:nvSpPr>
          <p:cNvPr id="294" name="Google Shape;294;p28"/>
          <p:cNvSpPr/>
          <p:nvPr/>
        </p:nvSpPr>
        <p:spPr>
          <a:xfrm>
            <a:off x="5665317" y="2506429"/>
            <a:ext cx="442800" cy="456900"/>
          </a:xfrm>
          <a:prstGeom prst="arc">
            <a:avLst>
              <a:gd fmla="val 18462954" name="adj1"/>
              <a:gd fmla="val 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8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96" name="Google Shape;296;p28"/>
          <p:cNvSpPr txBox="1"/>
          <p:nvPr>
            <p:ph idx="1" type="body"/>
          </p:nvPr>
        </p:nvSpPr>
        <p:spPr>
          <a:xfrm>
            <a:off x="311175" y="920565"/>
            <a:ext cx="8520600" cy="38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 txBox="1"/>
          <p:nvPr>
            <p:ph type="title"/>
          </p:nvPr>
        </p:nvSpPr>
        <p:spPr>
          <a:xfrm>
            <a:off x="1301775" y="184414"/>
            <a:ext cx="7630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More resources</a:t>
            </a:r>
            <a:endParaRPr/>
          </a:p>
        </p:txBody>
      </p:sp>
      <p:sp>
        <p:nvSpPr>
          <p:cNvPr id="304" name="Google Shape;304;p29"/>
          <p:cNvSpPr txBox="1"/>
          <p:nvPr>
            <p:ph idx="1" type="body"/>
          </p:nvPr>
        </p:nvSpPr>
        <p:spPr>
          <a:xfrm>
            <a:off x="311175" y="920565"/>
            <a:ext cx="8520600" cy="38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de-DE" sz="1300">
                <a:solidFill>
                  <a:srgbClr val="3F3F3F"/>
                </a:solidFill>
              </a:rPr>
              <a:t>LMU Schreibzentrum Workshop </a:t>
            </a:r>
            <a:r>
              <a:rPr lang="de-DE" sz="1300" u="sng">
                <a:solidFill>
                  <a:schemeClr val="hlink"/>
                </a:solidFill>
                <a:hlinkClick r:id="rId3"/>
              </a:rPr>
              <a:t>https://www.schreibzentrum.fak13.uni-muenchen.de/freitagsworkshops/index.html</a:t>
            </a:r>
            <a:r>
              <a:rPr lang="de-DE" sz="1300">
                <a:solidFill>
                  <a:srgbClr val="3F3F3F"/>
                </a:solidFill>
              </a:rPr>
              <a:t> </a:t>
            </a:r>
            <a:endParaRPr sz="1300">
              <a:solidFill>
                <a:srgbClr val="3F3F3F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de-DE" sz="1300">
                <a:solidFill>
                  <a:srgbClr val="3F3F3F"/>
                </a:solidFill>
              </a:rPr>
              <a:t>How to give a great scientific talk</a:t>
            </a:r>
            <a:r>
              <a:rPr b="1" lang="de-DE" sz="1300">
                <a:solidFill>
                  <a:schemeClr val="dk1"/>
                </a:solidFill>
              </a:rPr>
              <a:t> </a:t>
            </a:r>
            <a:r>
              <a:rPr lang="de-DE" sz="1300" u="sng">
                <a:solidFill>
                  <a:schemeClr val="hlink"/>
                </a:solidFill>
                <a:hlinkClick r:id="rId4"/>
              </a:rPr>
              <a:t>https://www.nature.com/articles/d41586-018-07780-5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de-DE" sz="1300"/>
              <a:t>Free Images</a:t>
            </a:r>
            <a:r>
              <a:rPr lang="de-DE" sz="1300"/>
              <a:t> </a:t>
            </a:r>
            <a:r>
              <a:rPr lang="de-DE" sz="13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https://www.pexels.com/</a:t>
            </a:r>
            <a:r>
              <a:rPr lang="de-DE" sz="1300"/>
              <a:t>, </a:t>
            </a:r>
            <a:r>
              <a:rPr lang="de-DE" sz="13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https://unsplash.com/</a:t>
            </a:r>
            <a:endParaRPr sz="1300">
              <a:solidFill>
                <a:schemeClr val="accent5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de-DE" sz="1300"/>
              <a:t>How to read a research paper</a:t>
            </a:r>
            <a:r>
              <a:rPr lang="de-DE" sz="1300"/>
              <a:t> </a:t>
            </a:r>
            <a:r>
              <a:rPr lang="de-DE" sz="1300" u="sng">
                <a:solidFill>
                  <a:schemeClr val="hlink"/>
                </a:solidFill>
                <a:hlinkClick r:id="rId7"/>
              </a:rPr>
              <a:t>http://ccr.sigcomm.org/online/files/p83-keshavA.pdf</a:t>
            </a:r>
            <a:endParaRPr sz="1300"/>
          </a:p>
        </p:txBody>
      </p:sp>
      <p:sp>
        <p:nvSpPr>
          <p:cNvPr id="305" name="Google Shape;305;p29"/>
          <p:cNvSpPr txBox="1"/>
          <p:nvPr>
            <p:ph idx="2" type="sldNum"/>
          </p:nvPr>
        </p:nvSpPr>
        <p:spPr>
          <a:xfrm>
            <a:off x="8316000" y="478440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06" name="Google Shape;306;p2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arissa-Design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